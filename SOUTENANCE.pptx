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Répartition des 82 interactions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Interactions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Vues</c:v>
                  </c:pt>
                  <c:pt idx="1">
                    <c:v>Notes (1-5)</c:v>
                  </c:pt>
                  <c:pt idx="2">
                    <c:v>Achats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25</c:v>
                </c:pt>
                <c:pt idx="2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0:00-0:40. Bonjour. Je presente un prototype de moteur de recommandation pour TechMarket, un site e-commerce high-tech, developpe en Scala 3 en programmation fonctionnelle pure. En 10 minutes : le probleme metier, l'architecture, la formule de scoring, les resultats sur le jeu de donnees fourni, et la demarche qualite.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0:40-1:40. Quatre constats metier : rebond, panier, cold start, explicabilite. La demande n'est pas un systeme industriel : c'est un prototype de decision, hors-ligne, reproductible, lisible. Ces trois contraintes ont guide tous les choix techniques.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1:40-2:40. Trois CSV : 18 produits, 20 utilisateurs segmentes, 82 interactions dont 46 vues, 25 notes, 11 achats. Point cle decouvert a l'analyse : personne n'a zero interaction. Si j'avais code le cold start sur historique vide comme le suggere l'enonce, il ne se serait JAMAIS declenche. J'ai donc choisi le segment comme declencheur — et un test le prouve.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2:40-3:40. Quatre couches. Les trois premieres sont pures : memes entrees, memes sorties, zero effet de bord. Tout ce qui est impur — lire les CSV, afficher — est repousse dans io. Consequence pratique : le coeur se teste avec des donnees ecrites a la main, sans fichier, et le determinisme exige par le sujet est structurel.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3:40-4:50. La similarite entre deux utilisateurs est le cosinus de l'angle entre leurs profils. Un profil : une coordonnee par produit, valant le signal le plus fort emis — pas la somme, pour qu'un curieux compulsif ne pese pas plus qu'un acheteur. Le cosinus ignore le volume d'activite et ne compare que la direction du gout : c'est exactement ce qu'il faut pour le taux de clic. Jaccard aurait perdu l'intensite, l'euclidienne aurait separe des gouts identiques d'activite differente.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4:50-5:50. Quatre etapes, toutes en combinateurs : pas un seul var ni while dans le projet. Le tri departage les ex aequo par identifiant : deux executions donnent toujours le meme resultat, c'est la reproductibilite exigee. Le cold start n'est pas un if disperse : c'est un Option. None quand on ne peut pas personnaliser, getOrElse bascule sur les populaires. L'absence de personnalisation est une valeur du domaine, pas un cas d'erreur.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5:50-6:30. Les six principes du sujet sont tenus dans tout src/main, pas seulement dans un coin : verifiable par grep, aucun var, aucun while, aucune collection mutable. Le point que je souligne : l'ADT. Le type Note PORTE sa valeur — une note sans valeur ou une vue notee ne peuvent pas exister, le compilateur les refuse. C'est de la validation par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6:30-7:30. La sortie reelle du programme. L'utilisateur 2, segment nouveau, recoit le repli populaire — laptop le plus consulte. Les utilisateurs avec historique recoivent des accessoires complementaires — batterie, webcam, chargeur — chacun justifie par le nombre de voisins de gout. C'est la reponse aux objectifs panier moyen et explicabilite. 46 tests, zero echec.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7:30-8:40. Le moment le plus instructif du projet. Premiere suite : 36 tests verts. Revue par mutation : on peut supprimer le coeur de l'algorithme sans qu'un seul test echoue. Et un vrai bug dormait : le double comptage achat+note, qui inversait le top-3 de 6 utilisateurs sur 13. Correction : la regle du signal le plus fort est factorisee et partagee par le profil et le scoring, puis verrouillee par des tests numeriques exacts. Lecon : un test ne vaut que s'il echoue quand le comportement qu'il nomme disparait.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Repartition lisible directement dans l'historique Git. Le point a retenir : c'est l'architecture en couches qui a permis de travailler en parallele. La couche calcul ne dependant que du modele, elle a pu etre ecrite des que le modele etait fige ; l'affichage et le moteur ont ete faits en meme temps par deux personnes.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8:40-9:20. Trois limites assumees et documentees. La plus importante : le signal 'je n'aime pas' n'est pas exploite — une note basse compte comme un engagement faible. C'est sans effet sur ce jeu de donnees, c'est ecrit dans le code et le rapport, et c'est la premiere evolution a faire avant un usage reel. Enfin, le perimetre est volontairement celui du sujet : rien en moins, rien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9:20-10:00. En synthese : chaque objectif de TechMarket a sa reponse technique, le tout en fonctionnel pur, teste et reproductible. Merci.
QUESTIONS PROBABLES DU JURY :
1. Pourquoi le cosinus et pas Jaccard ? — Jaccard ignore l'intensite (une vue = un achat) ; le cosinus exploite les poids tout en restant insensible au volume d'activite.
2. Pourquoi le repli sur le segment et pas l'historique vide ? — Aucun utilisateur du jeu n'a d'historique vide : le cas ne se serait jamais declenche. Teste par la fixture David (nouveau AVEC voisins).
3. Que se passe-t-il pour un utilisateur inconnu ? — Left('Utilisateur inconnu'), erreur d'appel distinguee d'une liste vide.
4. Pourquoi max et pas somme des interactions ? — Pour qu'un curieux qui revoit dix fois une fiche ne pese pas plus qu'un acheteur ; c'etait un vrai bug corrige dans le scoring.
5. Et si deux items ont le meme score ? — Departage par id croissant : reproductibilite garantie.
6. Complexite ? — O(U^2 x I) : correct hors-ligne a cette echelle, voisinage pre-calcule au-dela.
7. Les notes negatives ? — Limite assumee : engagement faible, pas rejet ; evolution proposee : centrer (valeur - 3).
8. Pourquoi pas de var/while ? — Exigence du sujet ; combinateurs + recursion suffisent et rendent le code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Moteur de recommandation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761488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TechMarket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en Scala 3 : similarité, filtrage, cold start — projet d'équipe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tutoré Scala — programmation fonctionnelle   |   github.com/afthegamer/sujet2-moteur-recommandation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de TechMarket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/>
          <p:nvPr/>
        </p:nvSpPr>
        <p:spPr>
          <a:xfrm>
            <a:off x="804672" y="15453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rebond élevé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04672" y="1920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visiteurs se perdent dans un catalogue en croissance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FF4F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916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 qui stagne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04672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produit complémentaire suggéré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16052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FF4FD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42885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04672" y="46634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contenu pour les visiteurs sans historique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532120"/>
            <a:ext cx="5120640" cy="1078992"/>
          </a:xfrm>
          <a:prstGeom prst="roundRect">
            <a:avLst>
              <a:gd name="adj" fmla="val 6780"/>
            </a:avLst>
          </a:prstGeom>
          <a:solidFill>
            <a:srgbClr val="EFF4FD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56601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Exigence d'explicabilité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6035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suggestion doit être justifiable au métier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417320"/>
            <a:ext cx="5468112" cy="5193792"/>
          </a:xfrm>
          <a:prstGeom prst="roundRect">
            <a:avLst>
              <a:gd name="adj" fmla="val 1408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783080"/>
            <a:ext cx="4736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commande de l'équipe Data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37960" y="2331720"/>
            <a:ext cx="4736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prototype « Vous pourriez aussi aimer »
</a:t>
            </a:r>
            <a:endParaRPr lang="en-US" sz="1700" dirty="0"/>
          </a:p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objectiver la valeur d'un moteur de recommandation avant d'investir dans une solution industrielle.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7960" y="4160520"/>
            <a:ext cx="473659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hors-ligne, sur extrait anonymisé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reproductible et testable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lisibilité avant sophistication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jeu de données fourni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8580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produits, 6 catégories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85800" y="2852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2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items.csv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14173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EFF4FD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29184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utilisateurs, 3 segments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91840" y="2852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2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users.csv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760720" y="14173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EFF4FD"/>
          </a:solidFill>
          <a:ln/>
        </p:spPr>
      </p:sp>
      <p:sp>
        <p:nvSpPr>
          <p:cNvPr id="12" name="Text 10"/>
          <p:cNvSpPr/>
          <p:nvPr/>
        </p:nvSpPr>
        <p:spPr>
          <a:xfrm>
            <a:off x="576072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589788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97880" y="2852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2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interactions.csv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657600"/>
          <a:ext cx="7360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8366760" y="1417320"/>
            <a:ext cx="3273552" cy="4983480"/>
          </a:xfrm>
          <a:prstGeom prst="roundRect">
            <a:avLst>
              <a:gd name="adj" fmla="val 2235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0" y="173736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Constat décisif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686800" y="2240280"/>
            <a:ext cx="26334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utilisateur n'a un historique vide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les 7 « nouveaux » ont 2 interactions chacun.
</a:t>
            </a:r>
            <a:endParaRPr lang="en-US" sz="1500" dirty="0"/>
          </a:p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cold start déclenché sur « historique vide » ne se serait jamais produit.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 : le repli est piloté par le segment.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: un cœur pur, des bords impurs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0" cy="969264"/>
          </a:xfrm>
          <a:prstGeom prst="roundRect">
            <a:avLst>
              <a:gd name="adj" fmla="val 7547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727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93852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entités immuables — Item, User, Interaction, Recommandation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48456" y="2450592"/>
            <a:ext cx="201168" cy="219456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688336"/>
            <a:ext cx="6400800" cy="969264"/>
          </a:xfrm>
          <a:prstGeom prst="roundRect">
            <a:avLst>
              <a:gd name="adj" fmla="val 7547"/>
            </a:avLst>
          </a:prstGeom>
          <a:solidFill>
            <a:srgbClr val="EFF4FD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980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16382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 — cosinus, poids, profils, popularité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48456" y="3675888"/>
            <a:ext cx="201168" cy="219456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913632"/>
            <a:ext cx="6400800" cy="969264"/>
          </a:xfrm>
          <a:prstGeom prst="roundRect">
            <a:avLst>
              <a:gd name="adj" fmla="val 7547"/>
            </a:avLst>
          </a:prstGeom>
          <a:solidFill>
            <a:srgbClr val="EFF4F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023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43891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— scoring, filtrage, tri, top-N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48456" y="4901184"/>
            <a:ext cx="201168" cy="219456"/>
          </a:xfrm>
          <a:prstGeom prst="down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5138928"/>
            <a:ext cx="6400800" cy="969264"/>
          </a:xfrm>
          <a:prstGeom prst="roundRect">
            <a:avLst>
              <a:gd name="adj" fmla="val 7547"/>
            </a:avLst>
          </a:prstGeom>
          <a:solidFill>
            <a:srgbClr val="FDECE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248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61441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 couche impure — CSV en entrée, console en sortie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52360" y="1554480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règles de dépendance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452360" y="2103120"/>
            <a:ext cx="4187952" cy="1600200"/>
          </a:xfrm>
          <a:prstGeom prst="roundRect">
            <a:avLst>
              <a:gd name="adj" fmla="val 4571"/>
            </a:avLst>
          </a:prstGeom>
          <a:solidFill>
            <a:srgbClr val="EFF4FD"/>
          </a:solidFill>
          <a:ln/>
        </p:spPr>
      </p:sp>
      <p:sp>
        <p:nvSpPr>
          <p:cNvPr id="20" name="Text 18"/>
          <p:cNvSpPr/>
          <p:nvPr/>
        </p:nvSpPr>
        <p:spPr>
          <a:xfrm>
            <a:off x="7708392" y="2286000"/>
            <a:ext cx="36758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ne sait rien du CSV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n'opère que sur des vecteurs et des entités : testable sans lire un seul fichier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452360" y="3886200"/>
            <a:ext cx="4187952" cy="1600200"/>
          </a:xfrm>
          <a:prstGeom prst="roundRect">
            <a:avLst>
              <a:gd name="adj" fmla="val 4571"/>
            </a:avLst>
          </a:prstGeom>
          <a:solidFill>
            <a:srgbClr val="EFF4FD"/>
          </a:solidFill>
          <a:ln/>
        </p:spPr>
      </p:sp>
      <p:sp>
        <p:nvSpPr>
          <p:cNvPr id="22" name="Text 20"/>
          <p:cNvSpPr/>
          <p:nvPr/>
        </p:nvSpPr>
        <p:spPr>
          <a:xfrm>
            <a:off x="7708392" y="4069080"/>
            <a:ext cx="36758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 io touche au disque
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fait 30 lignes : charger, appeler le cœur pur, afficher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52360" y="571500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functional core, imperative shell »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mesure : similarité cosinus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6304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cos(u, v)  =  u · v  /  ( ‖u‖ × ‖v‖ )          (Vector[Double], Vector[Double]) =&gt; Double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3453384" cy="3017520"/>
          </a:xfrm>
          <a:prstGeom prst="roundRect">
            <a:avLst>
              <a:gd name="adj" fmla="val 2424"/>
            </a:avLst>
          </a:prstGeom>
          <a:solidFill>
            <a:srgbClr val="EFF4FD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3456432"/>
            <a:ext cx="294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profil d'un utilisateur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4206240"/>
            <a:ext cx="2941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coordonnée par item : le signal le plus fort émis — vue 1, note 1 à 5, achat 5. Vu PUIS acheté = max, pas la somme.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67784" y="3200400"/>
            <a:ext cx="3453384" cy="3017520"/>
          </a:xfrm>
          <a:prstGeom prst="roundRect">
            <a:avLst>
              <a:gd name="adj" fmla="val 2424"/>
            </a:avLst>
          </a:prstGeom>
          <a:solidFill>
            <a:srgbClr val="EFF4FD"/>
          </a:solidFill>
          <a:ln/>
        </p:spPr>
      </p:sp>
      <p:sp>
        <p:nvSpPr>
          <p:cNvPr id="9" name="Text 7"/>
          <p:cNvSpPr/>
          <p:nvPr/>
        </p:nvSpPr>
        <p:spPr>
          <a:xfrm>
            <a:off x="4623816" y="3456432"/>
            <a:ext cx="294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le cosinus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623816" y="4206240"/>
            <a:ext cx="2941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insensible à l'intensité d'activité : il compare des directions de goût. Un fidèle très actif et un occasionnel discret peuvent être très proches.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6928" y="3200400"/>
            <a:ext cx="3453384" cy="3017520"/>
          </a:xfrm>
          <a:prstGeom prst="roundRect">
            <a:avLst>
              <a:gd name="adj" fmla="val 2424"/>
            </a:avLst>
          </a:prstGeom>
          <a:solidFill>
            <a:srgbClr val="EFF4FD"/>
          </a:solidFill>
          <a:ln/>
        </p:spPr>
      </p:sp>
      <p:sp>
        <p:nvSpPr>
          <p:cNvPr id="12" name="Text 10"/>
          <p:cNvSpPr/>
          <p:nvPr/>
        </p:nvSpPr>
        <p:spPr>
          <a:xfrm>
            <a:off x="8442960" y="3456432"/>
            <a:ext cx="2941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métier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442960" y="4206240"/>
            <a:ext cx="2941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voisins de goût, pas de gros acheteurs : la suggestion a une vraie chance de plaire — c'est l'objectif « taux de clic ».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pipeline de recommandation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395728" cy="2286000"/>
          </a:xfrm>
          <a:prstGeom prst="roundRect">
            <a:avLst>
              <a:gd name="adj" fmla="val 3200"/>
            </a:avLst>
          </a:prstGeom>
          <a:solidFill>
            <a:srgbClr val="EFF4FD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25880" y="182880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95528" y="2423160"/>
            <a:ext cx="1901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similarité × signal du voisin, sommée sur les voisins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017520" y="2514600"/>
            <a:ext cx="365760" cy="310896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9" name="Shape 7"/>
          <p:cNvSpPr/>
          <p:nvPr/>
        </p:nvSpPr>
        <p:spPr>
          <a:xfrm>
            <a:off x="3447288" y="1554480"/>
            <a:ext cx="2395728" cy="2286000"/>
          </a:xfrm>
          <a:prstGeom prst="roundRect">
            <a:avLst>
              <a:gd name="adj" fmla="val 3200"/>
            </a:avLst>
          </a:prstGeom>
          <a:solidFill>
            <a:srgbClr val="EFF4FD"/>
          </a:solidFill>
          <a:ln/>
        </p:spPr>
      </p:sp>
      <p:sp>
        <p:nvSpPr>
          <p:cNvPr id="10" name="Shape 8"/>
          <p:cNvSpPr/>
          <p:nvPr/>
        </p:nvSpPr>
        <p:spPr>
          <a:xfrm>
            <a:off x="3675888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75888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224528" y="182880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94176" y="2423160"/>
            <a:ext cx="1901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filterNot : jamais un produit déjà connu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16168" y="2514600"/>
            <a:ext cx="365760" cy="310896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5" name="Shape 13"/>
          <p:cNvSpPr/>
          <p:nvPr/>
        </p:nvSpPr>
        <p:spPr>
          <a:xfrm>
            <a:off x="6345936" y="1554480"/>
            <a:ext cx="2395728" cy="2286000"/>
          </a:xfrm>
          <a:prstGeom prst="roundRect">
            <a:avLst>
              <a:gd name="adj" fmla="val 3200"/>
            </a:avLst>
          </a:prstGeom>
          <a:solidFill>
            <a:srgbClr val="EFF4FD"/>
          </a:solidFill>
          <a:ln/>
        </p:spPr>
      </p:sp>
      <p:sp>
        <p:nvSpPr>
          <p:cNvPr id="16" name="Shape 14"/>
          <p:cNvSpPr/>
          <p:nvPr/>
        </p:nvSpPr>
        <p:spPr>
          <a:xfrm>
            <a:off x="6574536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574536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123176" y="182880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92824" y="2423160"/>
            <a:ext cx="1901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décroissant, départage par id : reproductible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814816" y="2514600"/>
            <a:ext cx="365760" cy="310896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1" name="Shape 19"/>
          <p:cNvSpPr/>
          <p:nvPr/>
        </p:nvSpPr>
        <p:spPr>
          <a:xfrm>
            <a:off x="9244584" y="1554480"/>
            <a:ext cx="2395728" cy="2286000"/>
          </a:xfrm>
          <a:prstGeom prst="roundRect">
            <a:avLst>
              <a:gd name="adj" fmla="val 3200"/>
            </a:avLst>
          </a:prstGeom>
          <a:solidFill>
            <a:srgbClr val="EFF4FD"/>
          </a:solidFill>
          <a:ln/>
        </p:spPr>
      </p:sp>
      <p:sp>
        <p:nvSpPr>
          <p:cNvPr id="22" name="Shape 20"/>
          <p:cNvSpPr/>
          <p:nvPr/>
        </p:nvSpPr>
        <p:spPr>
          <a:xfrm>
            <a:off x="9473184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9473184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021824" y="182880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491472" y="2423160"/>
            <a:ext cx="1901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take(n) puis Recommandation(item, score, justification)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206240"/>
            <a:ext cx="11091672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44988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 start — porté par le type Option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personnalisees(...): Option[List[Recommandation]]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si segment « nouveau », ou si aucun voisin n'apporte de candidat inédit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getOrElse(populaires) : repli sur les items les plus populaires, jamais déjà connus, avec justification explicite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principes fonctionnels, tenus partout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175564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Immutabilité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95528" y="233172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val, case class, List / Vector / Map ; les ajouts rendent un nouveau Catalogue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3024" y="155448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7" name="Text 5"/>
          <p:cNvSpPr/>
          <p:nvPr/>
        </p:nvSpPr>
        <p:spPr>
          <a:xfrm>
            <a:off x="4629912" y="175564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Fonctions pures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629912" y="233172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modele, calcul, orchestration : zéro effet de bord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17408" y="155448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10" name="Text 8"/>
          <p:cNvSpPr/>
          <p:nvPr/>
        </p:nvSpPr>
        <p:spPr>
          <a:xfrm>
            <a:off x="8464296" y="175564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 supérieur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464296" y="233172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filter, flatMap, sortBy, groupMapReduce, partitionMap — aucun var ni while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417880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ADT + pattern matching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95528" y="475488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Note(valeur) : une note sans valeur est irreprésentable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3024" y="397764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16" name="Text 14"/>
          <p:cNvSpPr/>
          <p:nvPr/>
        </p:nvSpPr>
        <p:spPr>
          <a:xfrm>
            <a:off x="4629912" y="417880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Erreurs sans exception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629912" y="475488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Option, Either, Try ; le parseur accumule TOUTES les erreurs d'une passe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17408" y="3977640"/>
            <a:ext cx="3422904" cy="2011680"/>
          </a:xfrm>
          <a:prstGeom prst="roundRect">
            <a:avLst>
              <a:gd name="adj" fmla="val 3636"/>
            </a:avLst>
          </a:prstGeom>
          <a:solidFill>
            <a:srgbClr val="EFF4FD"/>
          </a:solidFill>
          <a:ln/>
        </p:spPr>
      </p:sp>
      <p:sp>
        <p:nvSpPr>
          <p:cNvPr id="19" name="Text 17"/>
          <p:cNvSpPr/>
          <p:nvPr/>
        </p:nvSpPr>
        <p:spPr>
          <a:xfrm>
            <a:off x="8464296" y="4178808"/>
            <a:ext cx="2929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Cœur pur / bords impurs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464296" y="4754880"/>
            <a:ext cx="2929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I/O tiennent dans deux fichiers de la couche io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sur les données TechMarket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5029200"/>
          </a:xfrm>
          <a:prstGeom prst="roundRect">
            <a:avLst>
              <a:gd name="adj" fmla="val 1455"/>
            </a:avLst>
          </a:prstGeom>
          <a:solidFill>
            <a:srgbClr val="0F143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164592" cy="164592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691640"/>
            <a:ext cx="164592" cy="164592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408176" y="1691640"/>
            <a:ext cx="164592" cy="164592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67665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sbt run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Utilisateur 2 — segment nouveau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Laptop UltraBook 14      1099.00 EUR   score 28.00
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8A93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Produit parmi les plus populaires du catalogue
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Utilisateur 1 — segment occasionnel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Batterie externe 20000mAh  39.90 EUR   score 1.91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93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2 utilisateur(s) au profil proche du vôtre...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Webcam StreamCam HD        79.00 EUR   score 1.37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93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1 utilisateur(s) au profil proche du vôtre...
</a:t>
            </a:r>
            <a:endParaRPr lang="en-US" sz="11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Chargeur rapide USB-C 65W  29.90 EUR   score 0.86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Utilisateur 4 — segment fidèle : top-3 personnalisé, justifié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412480" y="1463040"/>
            <a:ext cx="3227832" cy="2286000"/>
          </a:xfrm>
          <a:prstGeom prst="roundRect">
            <a:avLst>
              <a:gd name="adj" fmla="val 3200"/>
            </a:avLst>
          </a:prstGeom>
          <a:solidFill>
            <a:srgbClr val="EFF4FD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0" y="1691640"/>
            <a:ext cx="3227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8595360" y="274320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unitaires, zéro échec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412480" y="3977640"/>
            <a:ext cx="3227832" cy="2514600"/>
          </a:xfrm>
          <a:prstGeom prst="roundRect">
            <a:avLst>
              <a:gd name="adj" fmla="val 2909"/>
            </a:avLst>
          </a:prstGeom>
          <a:solidFill>
            <a:srgbClr val="EFF4FD"/>
          </a:solidFill>
          <a:ln/>
        </p:spPr>
      </p:sp>
      <p:sp>
        <p:nvSpPr>
          <p:cNvPr id="12" name="Text 10"/>
          <p:cNvSpPr/>
          <p:nvPr/>
        </p:nvSpPr>
        <p:spPr>
          <a:xfrm>
            <a:off x="8659368" y="4206240"/>
            <a:ext cx="273405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métier
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nouveau reçoit les valeurs sûres du catalogue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autres, des accessoires complémentaires portés par leurs voisins de goût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est justifiée en français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test vert ne prouve rien : la revue par mutation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737360"/>
          </a:xfrm>
          <a:prstGeom prst="roundRect">
            <a:avLst>
              <a:gd name="adj" fmla="val 4211"/>
            </a:avLst>
          </a:prstGeom>
          <a:solidFill>
            <a:srgbClr val="EFF4F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10451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: </a:t>
            </a:r>
            <a:pPr indent="0" marL="0">
              <a:buNone/>
            </a:pPr>
            <a:r>
              <a:rPr lang="en-US" sz="14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casser volontairement le code et vérifier que la suite rougit. Trois mutations majeures survivaient à la première suite : supprimer la gestion du segment, supprimer la pondération par similarité, dupliquer les contributions.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FDECEC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3749040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bug trouvé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5528" y="4297680"/>
            <a:ext cx="29291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voisin qui a acheté PUIS noté le même produit comptait deux fois : sim × (5 + note) au lieu de sim × max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024" y="3520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FDECEC"/>
          </a:solidFill>
          <a:ln/>
        </p:spPr>
      </p:sp>
      <p:sp>
        <p:nvSpPr>
          <p:cNvPr id="9" name="Text 7"/>
          <p:cNvSpPr/>
          <p:nvPr/>
        </p:nvSpPr>
        <p:spPr>
          <a:xfrm>
            <a:off x="4629912" y="3749040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impact réel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629912" y="4297680"/>
            <a:ext cx="29291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l'ordre du top-3 changeait pour 6 des 13 utilisateurs personnalisables du jeu de données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17408" y="3520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EFF4FD"/>
          </a:solidFill>
          <a:ln/>
        </p:spPr>
      </p:sp>
      <p:sp>
        <p:nvSpPr>
          <p:cNvPr id="12" name="Text 10"/>
          <p:cNvSpPr/>
          <p:nvPr/>
        </p:nvSpPr>
        <p:spPr>
          <a:xfrm>
            <a:off x="8464296" y="3749040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verrou posé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464296" y="4297680"/>
            <a:ext cx="29291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« signal le plus fort » factorisée (poidsParItem), score exact 5/racine(2) asserté à 1e-9 près, fixture de contraste David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a fait quoi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498598" cy="3108960"/>
          </a:xfrm>
          <a:prstGeom prst="roundRect">
            <a:avLst>
              <a:gd name="adj" fmla="val 2928"/>
            </a:avLst>
          </a:prstGeom>
          <a:solidFill>
            <a:srgbClr val="EFF4FD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95528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5528" y="2377440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95528" y="2880360"/>
            <a:ext cx="200482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1 — structure sbt, jeu de données, modèle du domaine, README de cadrage. Puis les tests du moteur.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2998" y="1554480"/>
            <a:ext cx="2498598" cy="3108960"/>
          </a:xfrm>
          <a:prstGeom prst="roundRect">
            <a:avLst>
              <a:gd name="adj" fmla="val 2928"/>
            </a:avLst>
          </a:prstGeom>
          <a:solidFill>
            <a:srgbClr val="EFF4FD"/>
          </a:solidFill>
          <a:ln/>
        </p:spPr>
      </p:sp>
      <p:sp>
        <p:nvSpPr>
          <p:cNvPr id="9" name="Shape 7"/>
          <p:cNvSpPr/>
          <p:nvPr/>
        </p:nvSpPr>
        <p:spPr>
          <a:xfrm>
            <a:off x="3659886" y="18105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3659886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659886" y="2377440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9886" y="2880360"/>
            <a:ext cx="200482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2 — le cœur fonctionnel : similarité cosinus, poids et profils, chargement des CSV, et leurs tests.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7356" y="1554480"/>
            <a:ext cx="2498598" cy="3108960"/>
          </a:xfrm>
          <a:prstGeom prst="roundRect">
            <a:avLst>
              <a:gd name="adj" fmla="val 2928"/>
            </a:avLst>
          </a:prstGeom>
          <a:solidFill>
            <a:srgbClr val="EFF4FD"/>
          </a:solidFill>
          <a:ln/>
        </p:spPr>
      </p:sp>
      <p:sp>
        <p:nvSpPr>
          <p:cNvPr id="14" name="Shape 12"/>
          <p:cNvSpPr/>
          <p:nvPr/>
        </p:nvSpPr>
        <p:spPr>
          <a:xfrm>
            <a:off x="6524244" y="1810512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524244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24244" y="2377440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Mathis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24244" y="2880360"/>
            <a:ext cx="200482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3 — le point d'entrée Main et la couche d'affichage des recommandations.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1714" y="1554480"/>
            <a:ext cx="2498598" cy="3108960"/>
          </a:xfrm>
          <a:prstGeom prst="roundRect">
            <a:avLst>
              <a:gd name="adj" fmla="val 2928"/>
            </a:avLst>
          </a:prstGeom>
          <a:solidFill>
            <a:srgbClr val="EFF4FD"/>
          </a:solidFill>
          <a:ln/>
        </p:spPr>
      </p:sp>
      <p:sp>
        <p:nvSpPr>
          <p:cNvPr id="19" name="Shape 17"/>
          <p:cNvSpPr/>
          <p:nvPr/>
        </p:nvSpPr>
        <p:spPr>
          <a:xfrm>
            <a:off x="9388602" y="1810512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Text 18"/>
          <p:cNvSpPr/>
          <p:nvPr/>
        </p:nvSpPr>
        <p:spPr>
          <a:xfrm>
            <a:off x="9388602" y="17967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388602" y="2377440"/>
            <a:ext cx="20048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diallosidymohamed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88602" y="2880360"/>
            <a:ext cx="200482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3 — le moteur de recommandation : le pipeline scoring, filtrage, tri, top-N.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21208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découpage en couches a rendu le travail en parallèle possible.
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couche calcul ne dépend que du modèle : elle a pu être écrite une fois le modèle figé. L'affichage et le moteur ont été développés en même temps, par deux personnes différentes.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assumées, suites possibles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22904" cy="4023360"/>
          </a:xfrm>
          <a:prstGeom prst="roundRect">
            <a:avLst>
              <a:gd name="adj" fmla="val 2137"/>
            </a:avLst>
          </a:prstGeom>
          <a:solidFill>
            <a:srgbClr val="EFF4FD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8470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95528" y="18333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95528" y="2423160"/>
            <a:ext cx="2929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notes basses ne pénalisent pas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5528" y="3337560"/>
            <a:ext cx="2929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note 1-2/5 compte comme un engagement faible, pas comme un rejet. Sans effet sur les sorties actuelles (2 notes ≤ 2 dans le jeu). Première évolution : centrer les notes (valeur − 3).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024" y="1600200"/>
            <a:ext cx="3422904" cy="4023360"/>
          </a:xfrm>
          <a:prstGeom prst="roundRect">
            <a:avLst>
              <a:gd name="adj" fmla="val 2137"/>
            </a:avLst>
          </a:prstGeom>
          <a:solidFill>
            <a:srgbClr val="EFF4FD"/>
          </a:solidFill>
          <a:ln/>
        </p:spPr>
      </p:sp>
      <p:sp>
        <p:nvSpPr>
          <p:cNvPr id="9" name="Shape 7"/>
          <p:cNvSpPr/>
          <p:nvPr/>
        </p:nvSpPr>
        <p:spPr>
          <a:xfrm>
            <a:off x="4629912" y="18470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4629912" y="18333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29912" y="2423160"/>
            <a:ext cx="2929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Complexité quadratique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629912" y="3337560"/>
            <a:ext cx="2929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similarité calculée contre tous les utilisateurs : acceptable hors-ligne pour 20 profils, voisinage à pré-calculer au-delà.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7408" y="1600200"/>
            <a:ext cx="3422904" cy="4023360"/>
          </a:xfrm>
          <a:prstGeom prst="roundRect">
            <a:avLst>
              <a:gd name="adj" fmla="val 2137"/>
            </a:avLst>
          </a:prstGeom>
          <a:solidFill>
            <a:srgbClr val="EFF4FD"/>
          </a:solidFill>
          <a:ln/>
        </p:spPr>
      </p:sp>
      <p:sp>
        <p:nvSpPr>
          <p:cNvPr id="14" name="Shape 12"/>
          <p:cNvSpPr/>
          <p:nvPr/>
        </p:nvSpPr>
        <p:spPr>
          <a:xfrm>
            <a:off x="8464296" y="1847088"/>
            <a:ext cx="420624" cy="42062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464296" y="18333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64296" y="2423160"/>
            <a:ext cx="29291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volontairement strict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64296" y="3337560"/>
            <a:ext cx="292912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extensions optionnelles du sujet (hybride, précision, export JSON) ne sont pas implémentées : le livré est le demandé, ni plus ni moins.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objectifs, quatre réponses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17236" cy="1600200"/>
          </a:xfrm>
          <a:prstGeom prst="roundRect">
            <a:avLst>
              <a:gd name="adj" fmla="val 4571"/>
            </a:avLst>
          </a:prstGeom>
          <a:solidFill>
            <a:srgbClr val="232B5E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56232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Taux de clic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46771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voisins de goût par cosinus, top-N trié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323076" y="1600200"/>
            <a:ext cx="5317236" cy="1600200"/>
          </a:xfrm>
          <a:prstGeom prst="roundRect">
            <a:avLst>
              <a:gd name="adj" fmla="val 4571"/>
            </a:avLst>
          </a:prstGeom>
          <a:solidFill>
            <a:srgbClr val="232B5E"/>
          </a:solidFill>
          <a:ln/>
        </p:spPr>
      </p:sp>
      <p:sp>
        <p:nvSpPr>
          <p:cNvPr id="7" name="Text 5"/>
          <p:cNvSpPr/>
          <p:nvPr/>
        </p:nvSpPr>
        <p:spPr>
          <a:xfrm>
            <a:off x="6643116" y="1856232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Panier moyen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643116" y="2377440"/>
            <a:ext cx="46771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uniquement des produits jamais consultés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317236" cy="1600200"/>
          </a:xfrm>
          <a:prstGeom prst="roundRect">
            <a:avLst>
              <a:gd name="adj" fmla="val 4571"/>
            </a:avLst>
          </a:prstGeom>
          <a:solidFill>
            <a:srgbClr val="232B5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22192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Cold start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8680" y="4343400"/>
            <a:ext cx="46771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 populaire piloté par le segment, via Option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323076" y="3566160"/>
            <a:ext cx="5317236" cy="1600200"/>
          </a:xfrm>
          <a:prstGeom prst="roundRect">
            <a:avLst>
              <a:gd name="adj" fmla="val 4571"/>
            </a:avLst>
          </a:prstGeom>
          <a:solidFill>
            <a:srgbClr val="232B5E"/>
          </a:solidFill>
          <a:ln/>
        </p:spPr>
      </p:sp>
      <p:sp>
        <p:nvSpPr>
          <p:cNvPr id="13" name="Text 11"/>
          <p:cNvSpPr/>
          <p:nvPr/>
        </p:nvSpPr>
        <p:spPr>
          <a:xfrm>
            <a:off x="6643116" y="3822192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Explicabilité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643116" y="4343400"/>
            <a:ext cx="46771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recommandation porte sa justification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 3.8.1  ·  4 couches  ·  46 tests  ·  équipe de 4  ·  résultats reproductibles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place aux questions   |   github.com/afthegamer/sujet2-moteur-recommandation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2026-07-31T08:40:36Z</dcterms:created>
  <dcterms:modified xsi:type="dcterms:W3CDTF">2026-07-31T08:40:36Z</dcterms:modified>
</cp:coreProperties>
</file>