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761"/>
                </a:solidFill>
                <a:latin typeface="Calibri"/>
              </a:defRPr>
            </a:pPr>
            <a:r>
              <a:rPr sz="1300" b="0" i="0" u="none" strike="noStrike">
                <a:solidFill>
                  <a:srgbClr val="1E2761"/>
                </a:solidFill>
                <a:latin typeface="Calibri"/>
              </a:rPr>
              <a:t>Répartition des 82 interactions</a:t>
            </a:r>
          </a:p>
        </c:rich>
      </c:tx>
      <c:layout/>
      <c:overlay val="0"/>
    </c:title>
    <c:autoTitleDeleted val="0"/>
    <c:plotArea>
      <c:layout/>
      <c:barChart>
        <c:barDir val="bar"/>
        <c:grouping val="clustered"/>
        <c:varyColors val="0"/>
        <c:ser>
          <c:idx val="0"/>
          <c:order val="0"/>
          <c:tx>
            <c:strRef>
              <c:f>Sheet1!$B$1</c:f>
              <c:strCache>
                <c:ptCount val="1"/>
                <c:pt idx="0">
                  <c:v>Interactions</c:v>
                </c:pt>
              </c:strCache>
            </c:strRef>
          </c:tx>
          <c:spPr>
            <a:solidFill>
              <a:srgbClr val="1E2761"/>
            </a:solidFill>
            <a:effectLst/>
          </c:spPr>
          <c:invertIfNegative val="0"/>
          <c:dLbls>
            <c:numFmt formatCode="#,##0" sourceLinked="0"/>
            <c:txPr>
              <a:bodyPr/>
              <a:lstStyle/>
              <a:p>
                <a:pPr>
                  <a:defRPr b="0" i="0" strike="noStrike" sz="1200" u="none">
                    <a:solidFill>
                      <a:srgbClr val="1E2761"/>
                    </a:solidFill>
                    <a:latin typeface="Calibri"/>
                  </a:defRPr>
                </a:pPr>
              </a:p>
            </c:txPr>
            <c:showLegendKey val="0"/>
            <c:showVal val="1"/>
            <c:showCatName val="0"/>
            <c:showSerName val="0"/>
            <c:showPercent val="0"/>
            <c:showBubbleSize val="0"/>
            <c:showLeaderLines val="0"/>
          </c:dLbls>
          <c:cat>
            <c:multiLvlStrRef>
              <c:f>Sheet1!$A$2:$A$4</c:f>
              <c:multiLvlStrCache>
                <c:ptCount val="3"/>
                <c:lvl>
                  <c:pt idx="0">
                    <c:v>Vues</c:v>
                  </c:pt>
                  <c:pt idx="1">
                    <c:v>Notes (1-5)</c:v>
                  </c:pt>
                  <c:pt idx="2">
                    <c:v>Achats</c:v>
                  </c:pt>
                </c:lvl>
              </c:multiLvlStrCache>
            </c:multiLvlStrRef>
          </c:cat>
          <c:val>
            <c:numRef>
              <c:f>Sheet1!$B$2:$B$4</c:f>
              <c:numCache>
                <c:formatCode>General</c:formatCode>
                <c:ptCount val="3"/>
                <c:pt idx="0">
                  <c:v>46</c:v>
                </c:pt>
                <c:pt idx="1">
                  <c:v>25</c:v>
                </c:pt>
                <c:pt idx="2">
                  <c:v>11</c:v>
                </c:pt>
              </c:numCache>
            </c:numRef>
          </c:val>
        </c:ser>
        <c:dLbls>
          <c:numFmt formatCode="#,##0" sourceLinked="0"/>
          <c:txPr>
            <a:bodyPr/>
            <a:lstStyle/>
            <a:p>
              <a:pPr>
                <a:defRPr b="0" i="0" strike="noStrike" sz="1200" u="none">
                  <a:solidFill>
                    <a:srgbClr val="1E2761"/>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E2761"/>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0:00-0:40. Bonjour. Je presente un prototype de moteur de recommandation pour TechMarket, un site e-commerce high-tech, developpe en Scala 3 en programmation fonctionnelle pure. En 10 minutes : le probleme metier, l'architecture, la formule de scoring, les resultats sur le jeu de donnees fourni, et la demarche qualite.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0:40-1:40. Quatre constats metier : rebond, panier, cold start, explicabilite. La demande n'est pas un systeme industriel : c'est un prototype de decision, hors-ligne, reproductible, lisible. Ces trois contraintes ont guide tous les choix techniques.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1:40-2:40. Trois CSV : 18 produits, 20 utilisateurs segmentes, 82 interactions dont 46 vues, 25 notes, 11 achats. Point cle decouvert a l'analyse : personne n'a zero interaction. Si j'avais code le cold start sur historique vide comme le suggere l'enonce, il ne se serait JAMAIS declenche. J'ai donc choisi le segment comme declencheur — et un test le prouve.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2:40-3:40. Quatre couches. Les trois premieres sont pures : memes entrees, memes sorties, zero effet de bord. Tout ce qui est impur — lire les CSV, afficher — est repousse dans io. Consequence pratique : le coeur se teste avec des donnees ecrites a la main, sans fichier, et le determinisme exige par le sujet est structurel.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3:40-4:50. La similarite entre deux utilisateurs est le cosinus de l'angle entre leurs profils. Un profil : une coordonnee par produit, valant le signal le plus fort emis — pas la somme, pour qu'un curieux compulsif ne pese pas plus qu'un acheteur. Le cosinus ignore le volume d'activite et ne compare que la direction du gout : c'est exactement ce qu'il faut pour le taux de clic. Jaccard aurait perdu l'intensite, l'euclidienne aurait separe des gouts identiques d'activite differente.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4:50-5:50. Quatre etapes, toutes en combinateurs : pas un seul var ni while dans le projet. Le tri departage les ex aequo par identifiant : deux executions donnent toujours le meme resultat, c'est la reproductibilite exigee. Le cold start n'est pas un if disperse : c'est un Option. None quand on ne peut pas personnaliser, getOrElse bascule sur les populaires. L'absence de personnalisation est une valeur du domaine, pas un cas d'erreur.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5:50-6:30. Les six principes du sujet sont tenus dans tout src/main, pas seulement dans un coin : verifiable par grep, aucun var, aucun while, aucune collection mutable. Le point que je souligne : l'ADT. Le type Note PORTE sa valeur — une note sans valeur ou une vue notee ne peuvent pas exister, le compilateur les refuse. C'est de la validation par construction.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6:30-7:30. La sortie reelle du programme. L'utilisateur 2, segment nouveau, recoit le repli populaire — laptop le plus consulte. Les utilisateurs avec historique recoivent des accessoires complementaires — batterie, webcam, chargeur — chacun justifie par le nombre de voisins de gout. C'est la reponse aux objectifs panier moyen et explicabilite. 46 tests, zero echec.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7:30-8:40. Le moment le plus instructif du projet. Premiere suite : 36 tests verts. Revue par mutation : on peut supprimer le coeur de l'algorithme sans qu'un seul test echoue. Et un vrai bug dormait : le double comptage achat+note, qui inversait le top-3 de 6 utilisateurs sur 13. Correction : la regle du signal le plus fort est factorisee et partagee par le profil et le scoring, puis verrouillee par des tests numeriques exacts. Lecon : un test ne vaut que s'il echoue quand le comportement qu'il nomme disparait.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Repartition lisible directement dans l'historique Git. Deux points a retenir. D'abord, c'est l'architecture en couches qui a permis de travailler en parallele : la couche calcul ne dependant que du modele, elle a pu etre ecrite des que le modele etait fige, et l'affichage et le moteur ont ete faits en meme temps par deux personnes. Ensuite, les tests du moteur ont ete ecrits en binome par Brad et Robin : c'etait la partie la plus delicate a verifier, et confronter deux lectures de l'algorithme a fait emerger le cas de contraste sur le cold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8:40-9:20. Trois limites assumees et documentees. La plus importante : le signal 'je n'aime pas' n'est pas exploite — une note basse compte comme un engagement faible. C'est sans effet sur ce jeu de donnees, c'est ecrit dans le code et le rapport, et c'est la premiere evolution a faire avant un usage reel. Enfin, le perimetre est volontairement celui du sujet : rien en moins, rien en plus.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9:20-10:00. En synthese : chaque objectif de TechMarket a sa reponse technique, le tout en fonctionnel pur, teste et reproductible. Merci.
QUESTIONS PROBABLES DU JURY :
1. Pourquoi le cosinus et pas Jaccard ? — Jaccard ignore l'intensite (une vue = un achat) ; le cosinus exploite les poids tout en restant insensible au volume d'activite.
2. Pourquoi le repli sur le segment et pas l'historique vide ? — Aucun utilisateur du jeu n'a d'historique vide : le cas ne se serait jamais declenche. Teste par la fixture David (nouveau AVEC voisins).
3. Que se passe-t-il pour un utilisateur inconnu ? — Left('Utilisateur inconnu'), erreur d'appel distinguee d'une liste vide.
4. Pourquoi max et pas somme des interactions ? — Pour qu'un curieux qui revoit dix fois une fiche ne pese pas plus qu'un acheteur ; c'etait un vrai bug corrige dans le scoring.
5. Et si deux items ont le meme score ? — Departage par id croissant : reproductibilite garantie.
6. Complexite ? — O(U^2 x I) : correct hors-ligne a cette echelle, voisinage pre-calcule au-dela.
7. Les notes negatives ? — Limite assumee : engagement faible, pas rejet ; evolution proposee : centrer (valeur - 3).
8. Pourquoi pas de var/while ? — Exigence du sujet ; combinateurs + recursion suffisent et rendent le code testable.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D4A"/>
        </a:solidFill>
      </p:bgPr>
    </p:bg>
    <p:spTree>
      <p:nvGrpSpPr>
        <p:cNvPr id="1" name=""/>
        <p:cNvGrpSpPr/>
        <p:nvPr/>
      </p:nvGrpSpPr>
      <p:grpSpPr>
        <a:xfrm>
          <a:off x="0" y="0"/>
          <a:ext cx="0" cy="0"/>
          <a:chOff x="0" y="0"/>
          <a:chExt cx="0" cy="0"/>
        </a:xfrm>
      </p:grpSpPr>
      <p:sp>
        <p:nvSpPr>
          <p:cNvPr id="2" name="Text 0"/>
          <p:cNvSpPr/>
          <p:nvPr/>
        </p:nvSpPr>
        <p:spPr>
          <a:xfrm>
            <a:off x="548640" y="1920240"/>
            <a:ext cx="11091672" cy="9144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Moteur de recommandation</a:t>
            </a:r>
            <a:endParaRPr lang="en-US" sz="4600" dirty="0"/>
          </a:p>
        </p:txBody>
      </p:sp>
      <p:sp>
        <p:nvSpPr>
          <p:cNvPr id="3" name="Text 1"/>
          <p:cNvSpPr/>
          <p:nvPr/>
        </p:nvSpPr>
        <p:spPr>
          <a:xfrm>
            <a:off x="548640" y="2761488"/>
            <a:ext cx="11091672" cy="914400"/>
          </a:xfrm>
          <a:prstGeom prst="rect">
            <a:avLst/>
          </a:prstGeom>
          <a:noFill/>
          <a:ln/>
        </p:spPr>
        <p:txBody>
          <a:bodyPr wrap="square" lIns="0" tIns="0" rIns="0" bIns="0" rtlCol="0" anchor="ctr"/>
          <a:lstStyle/>
          <a:p>
            <a:pPr indent="0" marL="0">
              <a:buNone/>
            </a:pPr>
            <a:r>
              <a:rPr lang="en-US" sz="4600" b="1" dirty="0">
                <a:solidFill>
                  <a:srgbClr val="F96167"/>
                </a:solidFill>
                <a:latin typeface="Cambria" pitchFamily="34" charset="0"/>
                <a:ea typeface="Cambria" pitchFamily="34" charset="-122"/>
                <a:cs typeface="Cambria" pitchFamily="34" charset="-120"/>
              </a:rPr>
              <a:t>TechMarket</a:t>
            </a:r>
            <a:endParaRPr lang="en-US" sz="4600" dirty="0"/>
          </a:p>
        </p:txBody>
      </p:sp>
      <p:sp>
        <p:nvSpPr>
          <p:cNvPr id="4" name="Text 2"/>
          <p:cNvSpPr/>
          <p:nvPr/>
        </p:nvSpPr>
        <p:spPr>
          <a:xfrm>
            <a:off x="548640" y="3794760"/>
            <a:ext cx="11091672" cy="457200"/>
          </a:xfrm>
          <a:prstGeom prst="rect">
            <a:avLst/>
          </a:prstGeom>
          <a:noFill/>
          <a:ln/>
        </p:spPr>
        <p:txBody>
          <a:bodyPr wrap="square" lIns="0" tIns="0" rIns="0" bIns="0" rtlCol="0" anchor="ctr"/>
          <a:lstStyle/>
          <a:p>
            <a:pPr indent="0" marL="0">
              <a:buNone/>
            </a:pPr>
            <a:r>
              <a:rPr lang="en-US" sz="1900" dirty="0">
                <a:solidFill>
                  <a:srgbClr val="CADCFC"/>
                </a:solidFill>
                <a:latin typeface="Calibri" pitchFamily="34" charset="0"/>
                <a:ea typeface="Calibri" pitchFamily="34" charset="-122"/>
                <a:cs typeface="Calibri" pitchFamily="34" charset="-120"/>
              </a:rPr>
              <a:t>Prototype en Scala 3 : similarité, filtrage, cold start — projet d'équipe</a:t>
            </a:r>
            <a:endParaRPr lang="en-US" sz="1900" dirty="0"/>
          </a:p>
        </p:txBody>
      </p:sp>
      <p:sp>
        <p:nvSpPr>
          <p:cNvPr id="5" name="Text 3"/>
          <p:cNvSpPr/>
          <p:nvPr/>
        </p:nvSpPr>
        <p:spPr>
          <a:xfrm>
            <a:off x="548640" y="6035040"/>
            <a:ext cx="11091672" cy="36576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Projet tutoré Scala — programmation fonctionnelle   |   github.com/afthegamer/sujet2-moteur-recommandation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Le problème de TechMarket</a:t>
            </a:r>
            <a:endParaRPr lang="en-US" sz="3200" dirty="0"/>
          </a:p>
        </p:txBody>
      </p:sp>
      <p:sp>
        <p:nvSpPr>
          <p:cNvPr id="3" name="Shape 1"/>
          <p:cNvSpPr/>
          <p:nvPr/>
        </p:nvSpPr>
        <p:spPr>
          <a:xfrm>
            <a:off x="548640" y="1417320"/>
            <a:ext cx="5120640" cy="1078992"/>
          </a:xfrm>
          <a:prstGeom prst="roundRect">
            <a:avLst>
              <a:gd name="adj" fmla="val 6780"/>
            </a:avLst>
          </a:prstGeom>
          <a:solidFill>
            <a:srgbClr val="EFF4FD"/>
          </a:solidFill>
          <a:ln/>
        </p:spPr>
      </p:sp>
      <p:sp>
        <p:nvSpPr>
          <p:cNvPr id="4" name="Text 2"/>
          <p:cNvSpPr/>
          <p:nvPr/>
        </p:nvSpPr>
        <p:spPr>
          <a:xfrm>
            <a:off x="804672" y="1545336"/>
            <a:ext cx="4663440" cy="365760"/>
          </a:xfrm>
          <a:prstGeom prst="rect">
            <a:avLst/>
          </a:prstGeom>
          <a:noFill/>
          <a:ln/>
        </p:spPr>
        <p:txBody>
          <a:bodyPr wrap="square" lIns="0" tIns="0" rIns="0" bIns="0" rtlCol="0" anchor="ctr"/>
          <a:lstStyle/>
          <a:p>
            <a:pPr indent="0" marL="0">
              <a:buNone/>
            </a:pPr>
            <a:r>
              <a:rPr lang="en-US" sz="1650" b="1" dirty="0">
                <a:solidFill>
                  <a:srgbClr val="1E2761"/>
                </a:solidFill>
                <a:latin typeface="Calibri" pitchFamily="34" charset="0"/>
                <a:ea typeface="Calibri" pitchFamily="34" charset="-122"/>
                <a:cs typeface="Calibri" pitchFamily="34" charset="-120"/>
              </a:rPr>
              <a:t>Taux de rebond élevé</a:t>
            </a:r>
            <a:endParaRPr lang="en-US" sz="1650" dirty="0"/>
          </a:p>
        </p:txBody>
      </p:sp>
      <p:sp>
        <p:nvSpPr>
          <p:cNvPr id="5" name="Text 3"/>
          <p:cNvSpPr/>
          <p:nvPr/>
        </p:nvSpPr>
        <p:spPr>
          <a:xfrm>
            <a:off x="804672" y="1920240"/>
            <a:ext cx="4663440" cy="457200"/>
          </a:xfrm>
          <a:prstGeom prst="rect">
            <a:avLst/>
          </a:prstGeom>
          <a:noFill/>
          <a:ln/>
        </p:spPr>
        <p:txBody>
          <a:bodyPr wrap="square" lIns="0" tIns="0" rIns="0" bIns="0" rtlCol="0" anchor="ctr"/>
          <a:lstStyle/>
          <a:p>
            <a:pPr indent="0" marL="0">
              <a:buNone/>
            </a:pPr>
            <a:r>
              <a:rPr lang="en-US" sz="1300" dirty="0">
                <a:solidFill>
                  <a:srgbClr val="5A6284"/>
                </a:solidFill>
                <a:latin typeface="Calibri" pitchFamily="34" charset="0"/>
                <a:ea typeface="Calibri" pitchFamily="34" charset="-122"/>
                <a:cs typeface="Calibri" pitchFamily="34" charset="-120"/>
              </a:rPr>
              <a:t>les visiteurs se perdent dans un catalogue en croissance</a:t>
            </a:r>
            <a:endParaRPr lang="en-US" sz="1300" dirty="0"/>
          </a:p>
        </p:txBody>
      </p:sp>
      <p:sp>
        <p:nvSpPr>
          <p:cNvPr id="6" name="Shape 4"/>
          <p:cNvSpPr/>
          <p:nvPr/>
        </p:nvSpPr>
        <p:spPr>
          <a:xfrm>
            <a:off x="548640" y="2788920"/>
            <a:ext cx="5120640" cy="1078992"/>
          </a:xfrm>
          <a:prstGeom prst="roundRect">
            <a:avLst>
              <a:gd name="adj" fmla="val 6780"/>
            </a:avLst>
          </a:prstGeom>
          <a:solidFill>
            <a:srgbClr val="EFF4FD"/>
          </a:solidFill>
          <a:ln/>
        </p:spPr>
      </p:sp>
      <p:sp>
        <p:nvSpPr>
          <p:cNvPr id="7" name="Text 5"/>
          <p:cNvSpPr/>
          <p:nvPr/>
        </p:nvSpPr>
        <p:spPr>
          <a:xfrm>
            <a:off x="804672" y="2916936"/>
            <a:ext cx="4663440" cy="365760"/>
          </a:xfrm>
          <a:prstGeom prst="rect">
            <a:avLst/>
          </a:prstGeom>
          <a:noFill/>
          <a:ln/>
        </p:spPr>
        <p:txBody>
          <a:bodyPr wrap="square" lIns="0" tIns="0" rIns="0" bIns="0" rtlCol="0" anchor="ctr"/>
          <a:lstStyle/>
          <a:p>
            <a:pPr indent="0" marL="0">
              <a:buNone/>
            </a:pPr>
            <a:r>
              <a:rPr lang="en-US" sz="1650" b="1" dirty="0">
                <a:solidFill>
                  <a:srgbClr val="1E2761"/>
                </a:solidFill>
                <a:latin typeface="Calibri" pitchFamily="34" charset="0"/>
                <a:ea typeface="Calibri" pitchFamily="34" charset="-122"/>
                <a:cs typeface="Calibri" pitchFamily="34" charset="-120"/>
              </a:rPr>
              <a:t>Panier moyen qui stagne</a:t>
            </a:r>
            <a:endParaRPr lang="en-US" sz="1650" dirty="0"/>
          </a:p>
        </p:txBody>
      </p:sp>
      <p:sp>
        <p:nvSpPr>
          <p:cNvPr id="8" name="Text 6"/>
          <p:cNvSpPr/>
          <p:nvPr/>
        </p:nvSpPr>
        <p:spPr>
          <a:xfrm>
            <a:off x="804672" y="3291840"/>
            <a:ext cx="4663440" cy="457200"/>
          </a:xfrm>
          <a:prstGeom prst="rect">
            <a:avLst/>
          </a:prstGeom>
          <a:noFill/>
          <a:ln/>
        </p:spPr>
        <p:txBody>
          <a:bodyPr wrap="square" lIns="0" tIns="0" rIns="0" bIns="0" rtlCol="0" anchor="ctr"/>
          <a:lstStyle/>
          <a:p>
            <a:pPr indent="0" marL="0">
              <a:buNone/>
            </a:pPr>
            <a:r>
              <a:rPr lang="en-US" sz="1300" dirty="0">
                <a:solidFill>
                  <a:srgbClr val="5A6284"/>
                </a:solidFill>
                <a:latin typeface="Calibri" pitchFamily="34" charset="0"/>
                <a:ea typeface="Calibri" pitchFamily="34" charset="-122"/>
                <a:cs typeface="Calibri" pitchFamily="34" charset="-120"/>
              </a:rPr>
              <a:t>pas de produit complémentaire suggéré</a:t>
            </a:r>
            <a:endParaRPr lang="en-US" sz="1300" dirty="0"/>
          </a:p>
        </p:txBody>
      </p:sp>
      <p:sp>
        <p:nvSpPr>
          <p:cNvPr id="9" name="Shape 7"/>
          <p:cNvSpPr/>
          <p:nvPr/>
        </p:nvSpPr>
        <p:spPr>
          <a:xfrm>
            <a:off x="548640" y="4160520"/>
            <a:ext cx="5120640" cy="1078992"/>
          </a:xfrm>
          <a:prstGeom prst="roundRect">
            <a:avLst>
              <a:gd name="adj" fmla="val 6780"/>
            </a:avLst>
          </a:prstGeom>
          <a:solidFill>
            <a:srgbClr val="EFF4FD"/>
          </a:solidFill>
          <a:ln/>
        </p:spPr>
      </p:sp>
      <p:sp>
        <p:nvSpPr>
          <p:cNvPr id="10" name="Text 8"/>
          <p:cNvSpPr/>
          <p:nvPr/>
        </p:nvSpPr>
        <p:spPr>
          <a:xfrm>
            <a:off x="804672" y="4288536"/>
            <a:ext cx="4663440" cy="365760"/>
          </a:xfrm>
          <a:prstGeom prst="rect">
            <a:avLst/>
          </a:prstGeom>
          <a:noFill/>
          <a:ln/>
        </p:spPr>
        <p:txBody>
          <a:bodyPr wrap="square" lIns="0" tIns="0" rIns="0" bIns="0" rtlCol="0" anchor="ctr"/>
          <a:lstStyle/>
          <a:p>
            <a:pPr indent="0" marL="0">
              <a:buNone/>
            </a:pPr>
            <a:r>
              <a:rPr lang="en-US" sz="1650" b="1" dirty="0">
                <a:solidFill>
                  <a:srgbClr val="1E2761"/>
                </a:solidFill>
                <a:latin typeface="Calibri" pitchFamily="34" charset="0"/>
                <a:ea typeface="Calibri" pitchFamily="34" charset="-122"/>
                <a:cs typeface="Calibri" pitchFamily="34" charset="-120"/>
              </a:rPr>
              <a:t>Cold start</a:t>
            </a:r>
            <a:endParaRPr lang="en-US" sz="1650" dirty="0"/>
          </a:p>
        </p:txBody>
      </p:sp>
      <p:sp>
        <p:nvSpPr>
          <p:cNvPr id="11" name="Text 9"/>
          <p:cNvSpPr/>
          <p:nvPr/>
        </p:nvSpPr>
        <p:spPr>
          <a:xfrm>
            <a:off x="804672" y="4663440"/>
            <a:ext cx="4663440" cy="457200"/>
          </a:xfrm>
          <a:prstGeom prst="rect">
            <a:avLst/>
          </a:prstGeom>
          <a:noFill/>
          <a:ln/>
        </p:spPr>
        <p:txBody>
          <a:bodyPr wrap="square" lIns="0" tIns="0" rIns="0" bIns="0" rtlCol="0" anchor="ctr"/>
          <a:lstStyle/>
          <a:p>
            <a:pPr indent="0" marL="0">
              <a:buNone/>
            </a:pPr>
            <a:r>
              <a:rPr lang="en-US" sz="1300" dirty="0">
                <a:solidFill>
                  <a:srgbClr val="5A6284"/>
                </a:solidFill>
                <a:latin typeface="Calibri" pitchFamily="34" charset="0"/>
                <a:ea typeface="Calibri" pitchFamily="34" charset="-122"/>
                <a:cs typeface="Calibri" pitchFamily="34" charset="-120"/>
              </a:rPr>
              <a:t>aucun contenu pour les visiteurs sans historique</a:t>
            </a:r>
            <a:endParaRPr lang="en-US" sz="1300" dirty="0"/>
          </a:p>
        </p:txBody>
      </p:sp>
      <p:sp>
        <p:nvSpPr>
          <p:cNvPr id="12" name="Shape 10"/>
          <p:cNvSpPr/>
          <p:nvPr/>
        </p:nvSpPr>
        <p:spPr>
          <a:xfrm>
            <a:off x="548640" y="5532120"/>
            <a:ext cx="5120640" cy="1078992"/>
          </a:xfrm>
          <a:prstGeom prst="roundRect">
            <a:avLst>
              <a:gd name="adj" fmla="val 6780"/>
            </a:avLst>
          </a:prstGeom>
          <a:solidFill>
            <a:srgbClr val="EFF4FD"/>
          </a:solidFill>
          <a:ln/>
        </p:spPr>
      </p:sp>
      <p:sp>
        <p:nvSpPr>
          <p:cNvPr id="13" name="Text 11"/>
          <p:cNvSpPr/>
          <p:nvPr/>
        </p:nvSpPr>
        <p:spPr>
          <a:xfrm>
            <a:off x="804672" y="5660136"/>
            <a:ext cx="4663440" cy="365760"/>
          </a:xfrm>
          <a:prstGeom prst="rect">
            <a:avLst/>
          </a:prstGeom>
          <a:noFill/>
          <a:ln/>
        </p:spPr>
        <p:txBody>
          <a:bodyPr wrap="square" lIns="0" tIns="0" rIns="0" bIns="0" rtlCol="0" anchor="ctr"/>
          <a:lstStyle/>
          <a:p>
            <a:pPr indent="0" marL="0">
              <a:buNone/>
            </a:pPr>
            <a:r>
              <a:rPr lang="en-US" sz="1650" b="1" dirty="0">
                <a:solidFill>
                  <a:srgbClr val="1E2761"/>
                </a:solidFill>
                <a:latin typeface="Calibri" pitchFamily="34" charset="0"/>
                <a:ea typeface="Calibri" pitchFamily="34" charset="-122"/>
                <a:cs typeface="Calibri" pitchFamily="34" charset="-120"/>
              </a:rPr>
              <a:t>Exigence d'explicabilité</a:t>
            </a:r>
            <a:endParaRPr lang="en-US" sz="1650" dirty="0"/>
          </a:p>
        </p:txBody>
      </p:sp>
      <p:sp>
        <p:nvSpPr>
          <p:cNvPr id="14" name="Text 12"/>
          <p:cNvSpPr/>
          <p:nvPr/>
        </p:nvSpPr>
        <p:spPr>
          <a:xfrm>
            <a:off x="804672" y="6035040"/>
            <a:ext cx="4663440" cy="457200"/>
          </a:xfrm>
          <a:prstGeom prst="rect">
            <a:avLst/>
          </a:prstGeom>
          <a:noFill/>
          <a:ln/>
        </p:spPr>
        <p:txBody>
          <a:bodyPr wrap="square" lIns="0" tIns="0" rIns="0" bIns="0" rtlCol="0" anchor="ctr"/>
          <a:lstStyle/>
          <a:p>
            <a:pPr indent="0" marL="0">
              <a:buNone/>
            </a:pPr>
            <a:r>
              <a:rPr lang="en-US" sz="1300" dirty="0">
                <a:solidFill>
                  <a:srgbClr val="5A6284"/>
                </a:solidFill>
                <a:latin typeface="Calibri" pitchFamily="34" charset="0"/>
                <a:ea typeface="Calibri" pitchFamily="34" charset="-122"/>
                <a:cs typeface="Calibri" pitchFamily="34" charset="-120"/>
              </a:rPr>
              <a:t>chaque suggestion doit être justifiable au métier</a:t>
            </a:r>
            <a:endParaRPr lang="en-US" sz="1300" dirty="0"/>
          </a:p>
        </p:txBody>
      </p:sp>
      <p:sp>
        <p:nvSpPr>
          <p:cNvPr id="15" name="Shape 13"/>
          <p:cNvSpPr/>
          <p:nvPr/>
        </p:nvSpPr>
        <p:spPr>
          <a:xfrm>
            <a:off x="6172200" y="1417320"/>
            <a:ext cx="5468112" cy="5193792"/>
          </a:xfrm>
          <a:prstGeom prst="roundRect">
            <a:avLst>
              <a:gd name="adj" fmla="val 1408"/>
            </a:avLst>
          </a:prstGeom>
          <a:solidFill>
            <a:srgbClr val="1E2761"/>
          </a:solidFill>
          <a:ln/>
        </p:spPr>
      </p:sp>
      <p:sp>
        <p:nvSpPr>
          <p:cNvPr id="16" name="Text 14"/>
          <p:cNvSpPr/>
          <p:nvPr/>
        </p:nvSpPr>
        <p:spPr>
          <a:xfrm>
            <a:off x="6537960" y="1783080"/>
            <a:ext cx="4736592" cy="457200"/>
          </a:xfrm>
          <a:prstGeom prst="rect">
            <a:avLst/>
          </a:prstGeom>
          <a:noFill/>
          <a:ln/>
        </p:spPr>
        <p:txBody>
          <a:bodyPr wrap="square" lIns="0" tIns="0" rIns="0" bIns="0" rtlCol="0" anchor="ctr"/>
          <a:lstStyle/>
          <a:p>
            <a:pPr indent="0" marL="0">
              <a:buNone/>
            </a:pPr>
            <a:r>
              <a:rPr lang="en-US" sz="1900" b="1" dirty="0">
                <a:solidFill>
                  <a:srgbClr val="CADCFC"/>
                </a:solidFill>
                <a:latin typeface="Cambria" pitchFamily="34" charset="0"/>
                <a:ea typeface="Cambria" pitchFamily="34" charset="-122"/>
                <a:cs typeface="Cambria" pitchFamily="34" charset="-120"/>
              </a:rPr>
              <a:t>La commande de l'équipe Data</a:t>
            </a:r>
            <a:endParaRPr lang="en-US" sz="1900" dirty="0"/>
          </a:p>
        </p:txBody>
      </p:sp>
      <p:sp>
        <p:nvSpPr>
          <p:cNvPr id="17" name="Text 15"/>
          <p:cNvSpPr/>
          <p:nvPr/>
        </p:nvSpPr>
        <p:spPr>
          <a:xfrm>
            <a:off x="6537960" y="2331720"/>
            <a:ext cx="4736592" cy="15544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 prototype « Vous pourriez aussi aimer »
</a:t>
            </a:r>
            <a:endParaRPr lang="en-US" sz="1700" dirty="0"/>
          </a:p>
          <a:p>
            <a:pPr indent="0" marL="0">
              <a:buNone/>
            </a:pPr>
            <a:r>
              <a:rPr lang="en-US" sz="1450" dirty="0">
                <a:solidFill>
                  <a:srgbClr val="CADCFC"/>
                </a:solidFill>
                <a:latin typeface="Calibri" pitchFamily="34" charset="0"/>
                <a:ea typeface="Calibri" pitchFamily="34" charset="-122"/>
                <a:cs typeface="Calibri" pitchFamily="34" charset="-120"/>
              </a:rPr>
              <a:t>pour objectiver la valeur d'un moteur de recommandation avant d'investir dans une solution industrielle.</a:t>
            </a:r>
            <a:endParaRPr lang="en-US" sz="1700" dirty="0"/>
          </a:p>
        </p:txBody>
      </p:sp>
      <p:sp>
        <p:nvSpPr>
          <p:cNvPr id="18" name="Text 16"/>
          <p:cNvSpPr/>
          <p:nvPr/>
        </p:nvSpPr>
        <p:spPr>
          <a:xfrm>
            <a:off x="6537960" y="4160520"/>
            <a:ext cx="4736592" cy="2103120"/>
          </a:xfrm>
          <a:prstGeom prst="rect">
            <a:avLst/>
          </a:prstGeom>
          <a:noFill/>
          <a:ln/>
        </p:spPr>
        <p:txBody>
          <a:bodyPr wrap="square" lIns="0" tIns="0" rIns="0" bIns="0" rtlCol="0" anchor="ctr"/>
          <a:lstStyle/>
          <a:p>
            <a:pPr indent="0" marL="0">
              <a:buNone/>
            </a:pPr>
            <a:r>
              <a:rPr lang="en-US" sz="1400" b="1" dirty="0">
                <a:solidFill>
                  <a:srgbClr val="F96167"/>
                </a:solidFill>
                <a:latin typeface="Calibri" pitchFamily="34" charset="0"/>
                <a:ea typeface="Calibri" pitchFamily="34" charset="-122"/>
                <a:cs typeface="Calibri" pitchFamily="34" charset="-120"/>
              </a:rPr>
              <a:t>Contraintes :</a:t>
            </a:r>
            <a:endParaRPr lang="en-US" sz="1400" dirty="0"/>
          </a:p>
          <a:p>
            <a:pPr marL="342900" indent="-342900">
              <a:spcAft>
                <a:spcPts val="600"/>
              </a:spcAft>
              <a:buSzPct val="100000"/>
              <a:buChar char="•"/>
            </a:pPr>
            <a:r>
              <a:rPr lang="en-US" sz="1350" dirty="0">
                <a:solidFill>
                  <a:srgbClr val="FFFFFF"/>
                </a:solidFill>
                <a:latin typeface="Calibri" pitchFamily="34" charset="0"/>
                <a:ea typeface="Calibri" pitchFamily="34" charset="-122"/>
                <a:cs typeface="Calibri" pitchFamily="34" charset="-120"/>
              </a:rPr>
              <a:t>hors-ligne, sur extrait anonymisé</a:t>
            </a:r>
            <a:endParaRPr lang="en-US" sz="1400" dirty="0"/>
          </a:p>
          <a:p>
            <a:pPr marL="342900" indent="-342900">
              <a:spcAft>
                <a:spcPts val="600"/>
              </a:spcAft>
              <a:buSzPct val="100000"/>
              <a:buChar char="•"/>
            </a:pPr>
            <a:r>
              <a:rPr lang="en-US" sz="1350" dirty="0">
                <a:solidFill>
                  <a:srgbClr val="FFFFFF"/>
                </a:solidFill>
                <a:latin typeface="Calibri" pitchFamily="34" charset="0"/>
                <a:ea typeface="Calibri" pitchFamily="34" charset="-122"/>
                <a:cs typeface="Calibri" pitchFamily="34" charset="-120"/>
              </a:rPr>
              <a:t>reproductible et testable</a:t>
            </a:r>
            <a:endParaRPr lang="en-US" sz="1400" dirty="0"/>
          </a:p>
          <a:p>
            <a:pPr marL="342900" indent="-342900">
              <a:buSzPct val="100000"/>
              <a:buChar char="•"/>
            </a:pPr>
            <a:r>
              <a:rPr lang="en-US" sz="1350" dirty="0">
                <a:solidFill>
                  <a:srgbClr val="FFFFFF"/>
                </a:solidFill>
                <a:latin typeface="Calibri" pitchFamily="34" charset="0"/>
                <a:ea typeface="Calibri" pitchFamily="34" charset="-122"/>
                <a:cs typeface="Calibri" pitchFamily="34" charset="-120"/>
              </a:rPr>
              <a:t>lisibilité avant sophistication</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Le jeu de données fourni</a:t>
            </a:r>
            <a:endParaRPr lang="en-US" sz="3200" dirty="0"/>
          </a:p>
        </p:txBody>
      </p:sp>
      <p:sp>
        <p:nvSpPr>
          <p:cNvPr id="3" name="Shape 1"/>
          <p:cNvSpPr/>
          <p:nvPr/>
        </p:nvSpPr>
        <p:spPr>
          <a:xfrm>
            <a:off x="548640" y="1417320"/>
            <a:ext cx="2286000" cy="1828800"/>
          </a:xfrm>
          <a:prstGeom prst="roundRect">
            <a:avLst>
              <a:gd name="adj" fmla="val 4000"/>
            </a:avLst>
          </a:prstGeom>
          <a:solidFill>
            <a:srgbClr val="EFF4FD"/>
          </a:solidFill>
          <a:ln/>
        </p:spPr>
      </p:sp>
      <p:sp>
        <p:nvSpPr>
          <p:cNvPr id="4" name="Text 2"/>
          <p:cNvSpPr/>
          <p:nvPr/>
        </p:nvSpPr>
        <p:spPr>
          <a:xfrm>
            <a:off x="548640" y="1645920"/>
            <a:ext cx="2286000" cy="822960"/>
          </a:xfrm>
          <a:prstGeom prst="rect">
            <a:avLst/>
          </a:prstGeom>
          <a:noFill/>
          <a:ln/>
        </p:spPr>
        <p:txBody>
          <a:bodyPr wrap="square" lIns="0" tIns="0" rIns="0" bIns="0" rtlCol="0" anchor="ctr"/>
          <a:lstStyle/>
          <a:p>
            <a:pPr algn="ctr" indent="0" marL="0">
              <a:buNone/>
            </a:pPr>
            <a:r>
              <a:rPr lang="en-US" sz="4800" b="1" dirty="0">
                <a:solidFill>
                  <a:srgbClr val="F96167"/>
                </a:solidFill>
                <a:latin typeface="Cambria" pitchFamily="34" charset="0"/>
                <a:ea typeface="Cambria" pitchFamily="34" charset="-122"/>
                <a:cs typeface="Cambria" pitchFamily="34" charset="-120"/>
              </a:rPr>
              <a:t>18</a:t>
            </a:r>
            <a:endParaRPr lang="en-US" sz="4800" dirty="0"/>
          </a:p>
        </p:txBody>
      </p:sp>
      <p:sp>
        <p:nvSpPr>
          <p:cNvPr id="5" name="Text 3"/>
          <p:cNvSpPr/>
          <p:nvPr/>
        </p:nvSpPr>
        <p:spPr>
          <a:xfrm>
            <a:off x="685800" y="2514600"/>
            <a:ext cx="2011680" cy="365760"/>
          </a:xfrm>
          <a:prstGeom prst="rect">
            <a:avLst/>
          </a:prstGeom>
          <a:noFill/>
          <a:ln/>
        </p:spPr>
        <p:txBody>
          <a:bodyPr wrap="square" lIns="0" tIns="0" rIns="0" bIns="0" rtlCol="0" anchor="ctr"/>
          <a:lstStyle/>
          <a:p>
            <a:pPr algn="ctr" indent="0" marL="0">
              <a:buNone/>
            </a:pPr>
            <a:r>
              <a:rPr lang="en-US" sz="1250" dirty="0">
                <a:solidFill>
                  <a:srgbClr val="1E2761"/>
                </a:solidFill>
                <a:latin typeface="Calibri" pitchFamily="34" charset="0"/>
                <a:ea typeface="Calibri" pitchFamily="34" charset="-122"/>
                <a:cs typeface="Calibri" pitchFamily="34" charset="-120"/>
              </a:rPr>
              <a:t>produits, 6 catégories</a:t>
            </a:r>
            <a:endParaRPr lang="en-US" sz="1250" dirty="0"/>
          </a:p>
        </p:txBody>
      </p:sp>
      <p:sp>
        <p:nvSpPr>
          <p:cNvPr id="6" name="Text 4"/>
          <p:cNvSpPr/>
          <p:nvPr/>
        </p:nvSpPr>
        <p:spPr>
          <a:xfrm>
            <a:off x="685800" y="2852928"/>
            <a:ext cx="2011680" cy="274320"/>
          </a:xfrm>
          <a:prstGeom prst="rect">
            <a:avLst/>
          </a:prstGeom>
          <a:noFill/>
          <a:ln/>
        </p:spPr>
        <p:txBody>
          <a:bodyPr wrap="square" lIns="0" tIns="0" rIns="0" bIns="0" rtlCol="0" anchor="ctr"/>
          <a:lstStyle/>
          <a:p>
            <a:pPr algn="ctr" indent="0" marL="0">
              <a:buNone/>
            </a:pPr>
            <a:r>
              <a:rPr lang="en-US" sz="1050" dirty="0">
                <a:solidFill>
                  <a:srgbClr val="5A6284"/>
                </a:solidFill>
                <a:latin typeface="Courier New" pitchFamily="34" charset="0"/>
                <a:ea typeface="Courier New" pitchFamily="34" charset="-122"/>
                <a:cs typeface="Courier New" pitchFamily="34" charset="-120"/>
              </a:rPr>
              <a:t>items.csv</a:t>
            </a:r>
            <a:endParaRPr lang="en-US" sz="1050" dirty="0"/>
          </a:p>
        </p:txBody>
      </p:sp>
      <p:sp>
        <p:nvSpPr>
          <p:cNvPr id="7" name="Shape 5"/>
          <p:cNvSpPr/>
          <p:nvPr/>
        </p:nvSpPr>
        <p:spPr>
          <a:xfrm>
            <a:off x="3154680" y="1417320"/>
            <a:ext cx="2286000" cy="1828800"/>
          </a:xfrm>
          <a:prstGeom prst="roundRect">
            <a:avLst>
              <a:gd name="adj" fmla="val 4000"/>
            </a:avLst>
          </a:prstGeom>
          <a:solidFill>
            <a:srgbClr val="EFF4FD"/>
          </a:solidFill>
          <a:ln/>
        </p:spPr>
      </p:sp>
      <p:sp>
        <p:nvSpPr>
          <p:cNvPr id="8" name="Text 6"/>
          <p:cNvSpPr/>
          <p:nvPr/>
        </p:nvSpPr>
        <p:spPr>
          <a:xfrm>
            <a:off x="3154680" y="1645920"/>
            <a:ext cx="2286000" cy="822960"/>
          </a:xfrm>
          <a:prstGeom prst="rect">
            <a:avLst/>
          </a:prstGeom>
          <a:noFill/>
          <a:ln/>
        </p:spPr>
        <p:txBody>
          <a:bodyPr wrap="square" lIns="0" tIns="0" rIns="0" bIns="0" rtlCol="0" anchor="ctr"/>
          <a:lstStyle/>
          <a:p>
            <a:pPr algn="ctr" indent="0" marL="0">
              <a:buNone/>
            </a:pPr>
            <a:r>
              <a:rPr lang="en-US" sz="4800" b="1" dirty="0">
                <a:solidFill>
                  <a:srgbClr val="F96167"/>
                </a:solidFill>
                <a:latin typeface="Cambria" pitchFamily="34" charset="0"/>
                <a:ea typeface="Cambria" pitchFamily="34" charset="-122"/>
                <a:cs typeface="Cambria" pitchFamily="34" charset="-120"/>
              </a:rPr>
              <a:t>20</a:t>
            </a:r>
            <a:endParaRPr lang="en-US" sz="4800" dirty="0"/>
          </a:p>
        </p:txBody>
      </p:sp>
      <p:sp>
        <p:nvSpPr>
          <p:cNvPr id="9" name="Text 7"/>
          <p:cNvSpPr/>
          <p:nvPr/>
        </p:nvSpPr>
        <p:spPr>
          <a:xfrm>
            <a:off x="3291840" y="2514600"/>
            <a:ext cx="2011680" cy="365760"/>
          </a:xfrm>
          <a:prstGeom prst="rect">
            <a:avLst/>
          </a:prstGeom>
          <a:noFill/>
          <a:ln/>
        </p:spPr>
        <p:txBody>
          <a:bodyPr wrap="square" lIns="0" tIns="0" rIns="0" bIns="0" rtlCol="0" anchor="ctr"/>
          <a:lstStyle/>
          <a:p>
            <a:pPr algn="ctr" indent="0" marL="0">
              <a:buNone/>
            </a:pPr>
            <a:r>
              <a:rPr lang="en-US" sz="1250" dirty="0">
                <a:solidFill>
                  <a:srgbClr val="1E2761"/>
                </a:solidFill>
                <a:latin typeface="Calibri" pitchFamily="34" charset="0"/>
                <a:ea typeface="Calibri" pitchFamily="34" charset="-122"/>
                <a:cs typeface="Calibri" pitchFamily="34" charset="-120"/>
              </a:rPr>
              <a:t>utilisateurs, 3 segments</a:t>
            </a:r>
            <a:endParaRPr lang="en-US" sz="1250" dirty="0"/>
          </a:p>
        </p:txBody>
      </p:sp>
      <p:sp>
        <p:nvSpPr>
          <p:cNvPr id="10" name="Text 8"/>
          <p:cNvSpPr/>
          <p:nvPr/>
        </p:nvSpPr>
        <p:spPr>
          <a:xfrm>
            <a:off x="3291840" y="2852928"/>
            <a:ext cx="2011680" cy="274320"/>
          </a:xfrm>
          <a:prstGeom prst="rect">
            <a:avLst/>
          </a:prstGeom>
          <a:noFill/>
          <a:ln/>
        </p:spPr>
        <p:txBody>
          <a:bodyPr wrap="square" lIns="0" tIns="0" rIns="0" bIns="0" rtlCol="0" anchor="ctr"/>
          <a:lstStyle/>
          <a:p>
            <a:pPr algn="ctr" indent="0" marL="0">
              <a:buNone/>
            </a:pPr>
            <a:r>
              <a:rPr lang="en-US" sz="1050" dirty="0">
                <a:solidFill>
                  <a:srgbClr val="5A6284"/>
                </a:solidFill>
                <a:latin typeface="Courier New" pitchFamily="34" charset="0"/>
                <a:ea typeface="Courier New" pitchFamily="34" charset="-122"/>
                <a:cs typeface="Courier New" pitchFamily="34" charset="-120"/>
              </a:rPr>
              <a:t>users.csv</a:t>
            </a:r>
            <a:endParaRPr lang="en-US" sz="1050" dirty="0"/>
          </a:p>
        </p:txBody>
      </p:sp>
      <p:sp>
        <p:nvSpPr>
          <p:cNvPr id="11" name="Shape 9"/>
          <p:cNvSpPr/>
          <p:nvPr/>
        </p:nvSpPr>
        <p:spPr>
          <a:xfrm>
            <a:off x="5760720" y="1417320"/>
            <a:ext cx="2286000" cy="1828800"/>
          </a:xfrm>
          <a:prstGeom prst="roundRect">
            <a:avLst>
              <a:gd name="adj" fmla="val 4000"/>
            </a:avLst>
          </a:prstGeom>
          <a:solidFill>
            <a:srgbClr val="EFF4FD"/>
          </a:solidFill>
          <a:ln/>
        </p:spPr>
      </p:sp>
      <p:sp>
        <p:nvSpPr>
          <p:cNvPr id="12" name="Text 10"/>
          <p:cNvSpPr/>
          <p:nvPr/>
        </p:nvSpPr>
        <p:spPr>
          <a:xfrm>
            <a:off x="5760720" y="1645920"/>
            <a:ext cx="2286000" cy="822960"/>
          </a:xfrm>
          <a:prstGeom prst="rect">
            <a:avLst/>
          </a:prstGeom>
          <a:noFill/>
          <a:ln/>
        </p:spPr>
        <p:txBody>
          <a:bodyPr wrap="square" lIns="0" tIns="0" rIns="0" bIns="0" rtlCol="0" anchor="ctr"/>
          <a:lstStyle/>
          <a:p>
            <a:pPr algn="ctr" indent="0" marL="0">
              <a:buNone/>
            </a:pPr>
            <a:r>
              <a:rPr lang="en-US" sz="4800" b="1" dirty="0">
                <a:solidFill>
                  <a:srgbClr val="F96167"/>
                </a:solidFill>
                <a:latin typeface="Cambria" pitchFamily="34" charset="0"/>
                <a:ea typeface="Cambria" pitchFamily="34" charset="-122"/>
                <a:cs typeface="Cambria" pitchFamily="34" charset="-120"/>
              </a:rPr>
              <a:t>82</a:t>
            </a:r>
            <a:endParaRPr lang="en-US" sz="4800" dirty="0"/>
          </a:p>
        </p:txBody>
      </p:sp>
      <p:sp>
        <p:nvSpPr>
          <p:cNvPr id="13" name="Text 11"/>
          <p:cNvSpPr/>
          <p:nvPr/>
        </p:nvSpPr>
        <p:spPr>
          <a:xfrm>
            <a:off x="5897880" y="2514600"/>
            <a:ext cx="2011680" cy="365760"/>
          </a:xfrm>
          <a:prstGeom prst="rect">
            <a:avLst/>
          </a:prstGeom>
          <a:noFill/>
          <a:ln/>
        </p:spPr>
        <p:txBody>
          <a:bodyPr wrap="square" lIns="0" tIns="0" rIns="0" bIns="0" rtlCol="0" anchor="ctr"/>
          <a:lstStyle/>
          <a:p>
            <a:pPr algn="ctr" indent="0" marL="0">
              <a:buNone/>
            </a:pPr>
            <a:r>
              <a:rPr lang="en-US" sz="1250" dirty="0">
                <a:solidFill>
                  <a:srgbClr val="1E2761"/>
                </a:solidFill>
                <a:latin typeface="Calibri" pitchFamily="34" charset="0"/>
                <a:ea typeface="Calibri" pitchFamily="34" charset="-122"/>
                <a:cs typeface="Calibri" pitchFamily="34" charset="-120"/>
              </a:rPr>
              <a:t>interactions</a:t>
            </a:r>
            <a:endParaRPr lang="en-US" sz="1250" dirty="0"/>
          </a:p>
        </p:txBody>
      </p:sp>
      <p:sp>
        <p:nvSpPr>
          <p:cNvPr id="14" name="Text 12"/>
          <p:cNvSpPr/>
          <p:nvPr/>
        </p:nvSpPr>
        <p:spPr>
          <a:xfrm>
            <a:off x="5897880" y="2852928"/>
            <a:ext cx="2011680" cy="274320"/>
          </a:xfrm>
          <a:prstGeom prst="rect">
            <a:avLst/>
          </a:prstGeom>
          <a:noFill/>
          <a:ln/>
        </p:spPr>
        <p:txBody>
          <a:bodyPr wrap="square" lIns="0" tIns="0" rIns="0" bIns="0" rtlCol="0" anchor="ctr"/>
          <a:lstStyle/>
          <a:p>
            <a:pPr algn="ctr" indent="0" marL="0">
              <a:buNone/>
            </a:pPr>
            <a:r>
              <a:rPr lang="en-US" sz="1050" dirty="0">
                <a:solidFill>
                  <a:srgbClr val="5A6284"/>
                </a:solidFill>
                <a:latin typeface="Courier New" pitchFamily="34" charset="0"/>
                <a:ea typeface="Courier New" pitchFamily="34" charset="-122"/>
                <a:cs typeface="Courier New" pitchFamily="34" charset="-120"/>
              </a:rPr>
              <a:t>interactions.csv</a:t>
            </a:r>
            <a:endParaRPr lang="en-US" sz="1050" dirty="0"/>
          </a:p>
        </p:txBody>
      </p:sp>
      <p:graphicFrame>
        <p:nvGraphicFramePr>
          <p:cNvPr id="15" name="Chart 0" descr=""/>
          <p:cNvGraphicFramePr/>
          <p:nvPr/>
        </p:nvGraphicFramePr>
        <p:xfrm>
          <a:off x="548640" y="3657600"/>
          <a:ext cx="7360920" cy="2743200"/>
        </p:xfrm>
        <a:graphic xmlns:a="http://schemas.openxmlformats.org/drawingml/2006/main">
          <a:graphicData uri="http://schemas.openxmlformats.org/drawingml/2006/chart">
            <c:chart xmlns:c="http://schemas.openxmlformats.org/drawingml/2006/chart" r:id="rId1"/>
          </a:graphicData>
        </a:graphic>
      </p:graphicFrame>
      <p:sp>
        <p:nvSpPr>
          <p:cNvPr id="16" name="Shape 13"/>
          <p:cNvSpPr/>
          <p:nvPr/>
        </p:nvSpPr>
        <p:spPr>
          <a:xfrm>
            <a:off x="8366760" y="1417320"/>
            <a:ext cx="3273552" cy="4983480"/>
          </a:xfrm>
          <a:prstGeom prst="roundRect">
            <a:avLst>
              <a:gd name="adj" fmla="val 2235"/>
            </a:avLst>
          </a:prstGeom>
          <a:solidFill>
            <a:srgbClr val="1E2761"/>
          </a:solidFill>
          <a:ln/>
        </p:spPr>
      </p:sp>
      <p:sp>
        <p:nvSpPr>
          <p:cNvPr id="17" name="Text 14"/>
          <p:cNvSpPr/>
          <p:nvPr/>
        </p:nvSpPr>
        <p:spPr>
          <a:xfrm>
            <a:off x="8686800" y="1737360"/>
            <a:ext cx="2633472" cy="411480"/>
          </a:xfrm>
          <a:prstGeom prst="rect">
            <a:avLst/>
          </a:prstGeom>
          <a:noFill/>
          <a:ln/>
        </p:spPr>
        <p:txBody>
          <a:bodyPr wrap="square" lIns="0" tIns="0" rIns="0" bIns="0" rtlCol="0" anchor="ctr"/>
          <a:lstStyle/>
          <a:p>
            <a:pPr indent="0" marL="0">
              <a:buNone/>
            </a:pPr>
            <a:r>
              <a:rPr lang="en-US" sz="1800" b="1" dirty="0">
                <a:solidFill>
                  <a:srgbClr val="F96167"/>
                </a:solidFill>
                <a:latin typeface="Cambria" pitchFamily="34" charset="0"/>
                <a:ea typeface="Cambria" pitchFamily="34" charset="-122"/>
                <a:cs typeface="Cambria" pitchFamily="34" charset="-120"/>
              </a:rPr>
              <a:t>Constat décisif</a:t>
            </a:r>
            <a:endParaRPr lang="en-US" sz="1800" dirty="0"/>
          </a:p>
        </p:txBody>
      </p:sp>
      <p:sp>
        <p:nvSpPr>
          <p:cNvPr id="18" name="Text 15"/>
          <p:cNvSpPr/>
          <p:nvPr/>
        </p:nvSpPr>
        <p:spPr>
          <a:xfrm>
            <a:off x="8686800" y="2240280"/>
            <a:ext cx="2633472" cy="39319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Aucun utilisateur n'a un historique vide </a:t>
            </a:r>
            <a:pPr indent="0" marL="0">
              <a:buNone/>
            </a:pPr>
            <a:r>
              <a:rPr lang="en-US" sz="1500" dirty="0">
                <a:solidFill>
                  <a:srgbClr val="CADCFC"/>
                </a:solidFill>
                <a:latin typeface="Calibri" pitchFamily="34" charset="0"/>
                <a:ea typeface="Calibri" pitchFamily="34" charset="-122"/>
                <a:cs typeface="Calibri" pitchFamily="34" charset="-120"/>
              </a:rPr>
              <a:t>— les 7 « nouveaux » ont 2 interactions chacun.
</a:t>
            </a:r>
            <a:endParaRPr lang="en-US" sz="1500" dirty="0"/>
          </a:p>
          <a:p>
            <a:pPr indent="0" marL="0">
              <a:buNone/>
            </a:pPr>
            <a:r>
              <a:rPr lang="en-US" sz="1350" dirty="0">
                <a:solidFill>
                  <a:srgbClr val="CADCFC"/>
                </a:solidFill>
                <a:latin typeface="Calibri" pitchFamily="34" charset="0"/>
                <a:ea typeface="Calibri" pitchFamily="34" charset="-122"/>
                <a:cs typeface="Calibri" pitchFamily="34" charset="-120"/>
              </a:rPr>
              <a:t>Un cold start déclenché sur « historique vide » ne se serait jamais produit.
</a:t>
            </a:r>
            <a:endParaRPr lang="en-US" sz="1500" dirty="0"/>
          </a:p>
          <a:p>
            <a:pPr indent="0" marL="0">
              <a:buNone/>
            </a:pPr>
            <a:r>
              <a:rPr lang="en-US" sz="1500" b="1" dirty="0">
                <a:solidFill>
                  <a:srgbClr val="FFFFFF"/>
                </a:solidFill>
                <a:latin typeface="Calibri" pitchFamily="34" charset="0"/>
                <a:ea typeface="Calibri" pitchFamily="34" charset="-122"/>
                <a:cs typeface="Calibri" pitchFamily="34" charset="-120"/>
              </a:rPr>
              <a:t>Décision : le repli est piloté par le segment.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Architecture : un cœur pur, des bords impurs</a:t>
            </a:r>
            <a:endParaRPr lang="en-US" sz="3200" dirty="0"/>
          </a:p>
        </p:txBody>
      </p:sp>
      <p:sp>
        <p:nvSpPr>
          <p:cNvPr id="3" name="Shape 1"/>
          <p:cNvSpPr/>
          <p:nvPr/>
        </p:nvSpPr>
        <p:spPr>
          <a:xfrm>
            <a:off x="548640" y="1463040"/>
            <a:ext cx="6400800" cy="969264"/>
          </a:xfrm>
          <a:prstGeom prst="roundRect">
            <a:avLst>
              <a:gd name="adj" fmla="val 7547"/>
            </a:avLst>
          </a:prstGeom>
          <a:solidFill>
            <a:srgbClr val="EFF4FD"/>
          </a:solidFill>
          <a:ln/>
        </p:spPr>
      </p:sp>
      <p:sp>
        <p:nvSpPr>
          <p:cNvPr id="4" name="Text 2"/>
          <p:cNvSpPr/>
          <p:nvPr/>
        </p:nvSpPr>
        <p:spPr>
          <a:xfrm>
            <a:off x="822960" y="1572768"/>
            <a:ext cx="2194560" cy="365760"/>
          </a:xfrm>
          <a:prstGeom prst="rect">
            <a:avLst/>
          </a:prstGeom>
          <a:noFill/>
          <a:ln/>
        </p:spPr>
        <p:txBody>
          <a:bodyPr wrap="square" lIns="0" tIns="0" rIns="0" bIns="0" rtlCol="0" anchor="ctr"/>
          <a:lstStyle/>
          <a:p>
            <a:pPr indent="0" marL="0">
              <a:buNone/>
            </a:pPr>
            <a:r>
              <a:rPr lang="en-US" sz="1600" b="1" dirty="0">
                <a:solidFill>
                  <a:srgbClr val="1E2761"/>
                </a:solidFill>
                <a:latin typeface="Courier New" pitchFamily="34" charset="0"/>
                <a:ea typeface="Courier New" pitchFamily="34" charset="-122"/>
                <a:cs typeface="Courier New" pitchFamily="34" charset="-120"/>
              </a:rPr>
              <a:t>modele</a:t>
            </a:r>
            <a:endParaRPr lang="en-US" sz="1600" dirty="0"/>
          </a:p>
        </p:txBody>
      </p:sp>
      <p:sp>
        <p:nvSpPr>
          <p:cNvPr id="5" name="Text 3"/>
          <p:cNvSpPr/>
          <p:nvPr/>
        </p:nvSpPr>
        <p:spPr>
          <a:xfrm>
            <a:off x="822960" y="1938528"/>
            <a:ext cx="5852160" cy="411480"/>
          </a:xfrm>
          <a:prstGeom prst="rect">
            <a:avLst/>
          </a:prstGeom>
          <a:noFill/>
          <a:ln/>
        </p:spPr>
        <p:txBody>
          <a:bodyPr wrap="square" lIns="0" tIns="0" rIns="0" bIns="0" rtlCol="0" anchor="ctr"/>
          <a:lstStyle/>
          <a:p>
            <a:pPr indent="0" marL="0">
              <a:buNone/>
            </a:pPr>
            <a:r>
              <a:rPr lang="en-US" sz="1250" dirty="0">
                <a:solidFill>
                  <a:srgbClr val="5A6284"/>
                </a:solidFill>
                <a:latin typeface="Calibri" pitchFamily="34" charset="0"/>
                <a:ea typeface="Calibri" pitchFamily="34" charset="-122"/>
                <a:cs typeface="Calibri" pitchFamily="34" charset="-120"/>
              </a:rPr>
              <a:t>entités immuables — Item, User, Interaction, Recommandation</a:t>
            </a:r>
            <a:endParaRPr lang="en-US" sz="1250" dirty="0"/>
          </a:p>
        </p:txBody>
      </p:sp>
      <p:sp>
        <p:nvSpPr>
          <p:cNvPr id="6" name="Shape 4"/>
          <p:cNvSpPr/>
          <p:nvPr/>
        </p:nvSpPr>
        <p:spPr>
          <a:xfrm>
            <a:off x="3648456" y="2450592"/>
            <a:ext cx="201168" cy="219456"/>
          </a:xfrm>
          <a:prstGeom prst="downArrow">
            <a:avLst/>
          </a:prstGeom>
          <a:solidFill>
            <a:srgbClr val="CADCFC"/>
          </a:solidFill>
          <a:ln/>
        </p:spPr>
      </p:sp>
      <p:sp>
        <p:nvSpPr>
          <p:cNvPr id="7" name="Shape 5"/>
          <p:cNvSpPr/>
          <p:nvPr/>
        </p:nvSpPr>
        <p:spPr>
          <a:xfrm>
            <a:off x="548640" y="2688336"/>
            <a:ext cx="6400800" cy="969264"/>
          </a:xfrm>
          <a:prstGeom prst="roundRect">
            <a:avLst>
              <a:gd name="adj" fmla="val 7547"/>
            </a:avLst>
          </a:prstGeom>
          <a:solidFill>
            <a:srgbClr val="EFF4FD"/>
          </a:solidFill>
          <a:ln/>
        </p:spPr>
      </p:sp>
      <p:sp>
        <p:nvSpPr>
          <p:cNvPr id="8" name="Text 6"/>
          <p:cNvSpPr/>
          <p:nvPr/>
        </p:nvSpPr>
        <p:spPr>
          <a:xfrm>
            <a:off x="822960" y="2798064"/>
            <a:ext cx="2194560" cy="365760"/>
          </a:xfrm>
          <a:prstGeom prst="rect">
            <a:avLst/>
          </a:prstGeom>
          <a:noFill/>
          <a:ln/>
        </p:spPr>
        <p:txBody>
          <a:bodyPr wrap="square" lIns="0" tIns="0" rIns="0" bIns="0" rtlCol="0" anchor="ctr"/>
          <a:lstStyle/>
          <a:p>
            <a:pPr indent="0" marL="0">
              <a:buNone/>
            </a:pPr>
            <a:r>
              <a:rPr lang="en-US" sz="1600" b="1" dirty="0">
                <a:solidFill>
                  <a:srgbClr val="1E2761"/>
                </a:solidFill>
                <a:latin typeface="Courier New" pitchFamily="34" charset="0"/>
                <a:ea typeface="Courier New" pitchFamily="34" charset="-122"/>
                <a:cs typeface="Courier New" pitchFamily="34" charset="-120"/>
              </a:rPr>
              <a:t>calcul</a:t>
            </a:r>
            <a:endParaRPr lang="en-US" sz="1600" dirty="0"/>
          </a:p>
        </p:txBody>
      </p:sp>
      <p:sp>
        <p:nvSpPr>
          <p:cNvPr id="9" name="Text 7"/>
          <p:cNvSpPr/>
          <p:nvPr/>
        </p:nvSpPr>
        <p:spPr>
          <a:xfrm>
            <a:off x="822960" y="3163824"/>
            <a:ext cx="5852160" cy="411480"/>
          </a:xfrm>
          <a:prstGeom prst="rect">
            <a:avLst/>
          </a:prstGeom>
          <a:noFill/>
          <a:ln/>
        </p:spPr>
        <p:txBody>
          <a:bodyPr wrap="square" lIns="0" tIns="0" rIns="0" bIns="0" rtlCol="0" anchor="ctr"/>
          <a:lstStyle/>
          <a:p>
            <a:pPr indent="0" marL="0">
              <a:buNone/>
            </a:pPr>
            <a:r>
              <a:rPr lang="en-US" sz="1250" dirty="0">
                <a:solidFill>
                  <a:srgbClr val="5A6284"/>
                </a:solidFill>
                <a:latin typeface="Calibri" pitchFamily="34" charset="0"/>
                <a:ea typeface="Calibri" pitchFamily="34" charset="-122"/>
                <a:cs typeface="Calibri" pitchFamily="34" charset="-120"/>
              </a:rPr>
              <a:t>fonctions pures — cosinus, poids, profils, popularité</a:t>
            </a:r>
            <a:endParaRPr lang="en-US" sz="1250" dirty="0"/>
          </a:p>
        </p:txBody>
      </p:sp>
      <p:sp>
        <p:nvSpPr>
          <p:cNvPr id="10" name="Shape 8"/>
          <p:cNvSpPr/>
          <p:nvPr/>
        </p:nvSpPr>
        <p:spPr>
          <a:xfrm>
            <a:off x="3648456" y="3675888"/>
            <a:ext cx="201168" cy="219456"/>
          </a:xfrm>
          <a:prstGeom prst="downArrow">
            <a:avLst/>
          </a:prstGeom>
          <a:solidFill>
            <a:srgbClr val="CADCFC"/>
          </a:solidFill>
          <a:ln/>
        </p:spPr>
      </p:sp>
      <p:sp>
        <p:nvSpPr>
          <p:cNvPr id="11" name="Shape 9"/>
          <p:cNvSpPr/>
          <p:nvPr/>
        </p:nvSpPr>
        <p:spPr>
          <a:xfrm>
            <a:off x="548640" y="3913632"/>
            <a:ext cx="6400800" cy="969264"/>
          </a:xfrm>
          <a:prstGeom prst="roundRect">
            <a:avLst>
              <a:gd name="adj" fmla="val 7547"/>
            </a:avLst>
          </a:prstGeom>
          <a:solidFill>
            <a:srgbClr val="EFF4FD"/>
          </a:solidFill>
          <a:ln/>
        </p:spPr>
      </p:sp>
      <p:sp>
        <p:nvSpPr>
          <p:cNvPr id="12" name="Text 10"/>
          <p:cNvSpPr/>
          <p:nvPr/>
        </p:nvSpPr>
        <p:spPr>
          <a:xfrm>
            <a:off x="822960" y="4023360"/>
            <a:ext cx="2194560" cy="365760"/>
          </a:xfrm>
          <a:prstGeom prst="rect">
            <a:avLst/>
          </a:prstGeom>
          <a:noFill/>
          <a:ln/>
        </p:spPr>
        <p:txBody>
          <a:bodyPr wrap="square" lIns="0" tIns="0" rIns="0" bIns="0" rtlCol="0" anchor="ctr"/>
          <a:lstStyle/>
          <a:p>
            <a:pPr indent="0" marL="0">
              <a:buNone/>
            </a:pPr>
            <a:r>
              <a:rPr lang="en-US" sz="1600" b="1" dirty="0">
                <a:solidFill>
                  <a:srgbClr val="1E2761"/>
                </a:solidFill>
                <a:latin typeface="Courier New" pitchFamily="34" charset="0"/>
                <a:ea typeface="Courier New" pitchFamily="34" charset="-122"/>
                <a:cs typeface="Courier New" pitchFamily="34" charset="-120"/>
              </a:rPr>
              <a:t>orchestration</a:t>
            </a:r>
            <a:endParaRPr lang="en-US" sz="1600" dirty="0"/>
          </a:p>
        </p:txBody>
      </p:sp>
      <p:sp>
        <p:nvSpPr>
          <p:cNvPr id="13" name="Text 11"/>
          <p:cNvSpPr/>
          <p:nvPr/>
        </p:nvSpPr>
        <p:spPr>
          <a:xfrm>
            <a:off x="822960" y="4389120"/>
            <a:ext cx="5852160" cy="411480"/>
          </a:xfrm>
          <a:prstGeom prst="rect">
            <a:avLst/>
          </a:prstGeom>
          <a:noFill/>
          <a:ln/>
        </p:spPr>
        <p:txBody>
          <a:bodyPr wrap="square" lIns="0" tIns="0" rIns="0" bIns="0" rtlCol="0" anchor="ctr"/>
          <a:lstStyle/>
          <a:p>
            <a:pPr indent="0" marL="0">
              <a:buNone/>
            </a:pPr>
            <a:r>
              <a:rPr lang="en-US" sz="1250" dirty="0">
                <a:solidFill>
                  <a:srgbClr val="5A6284"/>
                </a:solidFill>
                <a:latin typeface="Calibri" pitchFamily="34" charset="0"/>
                <a:ea typeface="Calibri" pitchFamily="34" charset="-122"/>
                <a:cs typeface="Calibri" pitchFamily="34" charset="-120"/>
              </a:rPr>
              <a:t>pipeline — scoring, filtrage, tri, top-N</a:t>
            </a:r>
            <a:endParaRPr lang="en-US" sz="1250" dirty="0"/>
          </a:p>
        </p:txBody>
      </p:sp>
      <p:sp>
        <p:nvSpPr>
          <p:cNvPr id="14" name="Shape 12"/>
          <p:cNvSpPr/>
          <p:nvPr/>
        </p:nvSpPr>
        <p:spPr>
          <a:xfrm>
            <a:off x="3648456" y="4901184"/>
            <a:ext cx="201168" cy="219456"/>
          </a:xfrm>
          <a:prstGeom prst="downArrow">
            <a:avLst/>
          </a:prstGeom>
          <a:solidFill>
            <a:srgbClr val="CADCFC"/>
          </a:solidFill>
          <a:ln/>
        </p:spPr>
      </p:sp>
      <p:sp>
        <p:nvSpPr>
          <p:cNvPr id="15" name="Shape 13"/>
          <p:cNvSpPr/>
          <p:nvPr/>
        </p:nvSpPr>
        <p:spPr>
          <a:xfrm>
            <a:off x="548640" y="5138928"/>
            <a:ext cx="6400800" cy="969264"/>
          </a:xfrm>
          <a:prstGeom prst="roundRect">
            <a:avLst>
              <a:gd name="adj" fmla="val 7547"/>
            </a:avLst>
          </a:prstGeom>
          <a:solidFill>
            <a:srgbClr val="FDECEC"/>
          </a:solidFill>
          <a:ln/>
        </p:spPr>
      </p:sp>
      <p:sp>
        <p:nvSpPr>
          <p:cNvPr id="16" name="Text 14"/>
          <p:cNvSpPr/>
          <p:nvPr/>
        </p:nvSpPr>
        <p:spPr>
          <a:xfrm>
            <a:off x="822960" y="5248656"/>
            <a:ext cx="2194560" cy="365760"/>
          </a:xfrm>
          <a:prstGeom prst="rect">
            <a:avLst/>
          </a:prstGeom>
          <a:noFill/>
          <a:ln/>
        </p:spPr>
        <p:txBody>
          <a:bodyPr wrap="square" lIns="0" tIns="0" rIns="0" bIns="0" rtlCol="0" anchor="ctr"/>
          <a:lstStyle/>
          <a:p>
            <a:pPr indent="0" marL="0">
              <a:buNone/>
            </a:pPr>
            <a:r>
              <a:rPr lang="en-US" sz="1600" b="1" dirty="0">
                <a:solidFill>
                  <a:srgbClr val="F96167"/>
                </a:solidFill>
                <a:latin typeface="Courier New" pitchFamily="34" charset="0"/>
                <a:ea typeface="Courier New" pitchFamily="34" charset="-122"/>
                <a:cs typeface="Courier New" pitchFamily="34" charset="-120"/>
              </a:rPr>
              <a:t>io</a:t>
            </a:r>
            <a:endParaRPr lang="en-US" sz="1600" dirty="0"/>
          </a:p>
        </p:txBody>
      </p:sp>
      <p:sp>
        <p:nvSpPr>
          <p:cNvPr id="17" name="Text 15"/>
          <p:cNvSpPr/>
          <p:nvPr/>
        </p:nvSpPr>
        <p:spPr>
          <a:xfrm>
            <a:off x="822960" y="5614416"/>
            <a:ext cx="5852160" cy="411480"/>
          </a:xfrm>
          <a:prstGeom prst="rect">
            <a:avLst/>
          </a:prstGeom>
          <a:noFill/>
          <a:ln/>
        </p:spPr>
        <p:txBody>
          <a:bodyPr wrap="square" lIns="0" tIns="0" rIns="0" bIns="0" rtlCol="0" anchor="ctr"/>
          <a:lstStyle/>
          <a:p>
            <a:pPr indent="0" marL="0">
              <a:buNone/>
            </a:pPr>
            <a:r>
              <a:rPr lang="en-US" sz="1250" dirty="0">
                <a:solidFill>
                  <a:srgbClr val="5A6284"/>
                </a:solidFill>
                <a:latin typeface="Calibri" pitchFamily="34" charset="0"/>
                <a:ea typeface="Calibri" pitchFamily="34" charset="-122"/>
                <a:cs typeface="Calibri" pitchFamily="34" charset="-120"/>
              </a:rPr>
              <a:t>seule couche impure — CSV en entrée, console en sortie</a:t>
            </a:r>
            <a:endParaRPr lang="en-US" sz="1250" dirty="0"/>
          </a:p>
        </p:txBody>
      </p:sp>
      <p:sp>
        <p:nvSpPr>
          <p:cNvPr id="18" name="Text 16"/>
          <p:cNvSpPr/>
          <p:nvPr/>
        </p:nvSpPr>
        <p:spPr>
          <a:xfrm>
            <a:off x="7452360" y="1554480"/>
            <a:ext cx="4187952" cy="457200"/>
          </a:xfrm>
          <a:prstGeom prst="rect">
            <a:avLst/>
          </a:prstGeom>
          <a:noFill/>
          <a:ln/>
        </p:spPr>
        <p:txBody>
          <a:bodyPr wrap="square" lIns="0" tIns="0" rIns="0" bIns="0" rtlCol="0" anchor="ctr"/>
          <a:lstStyle/>
          <a:p>
            <a:pPr indent="0" marL="0">
              <a:buNone/>
            </a:pPr>
            <a:r>
              <a:rPr lang="en-US" sz="1900" b="1" dirty="0">
                <a:solidFill>
                  <a:srgbClr val="1E2761"/>
                </a:solidFill>
                <a:latin typeface="Cambria" pitchFamily="34" charset="0"/>
                <a:ea typeface="Cambria" pitchFamily="34" charset="-122"/>
                <a:cs typeface="Cambria" pitchFamily="34" charset="-120"/>
              </a:rPr>
              <a:t>Deux règles de dépendance</a:t>
            </a:r>
            <a:endParaRPr lang="en-US" sz="1900" dirty="0"/>
          </a:p>
        </p:txBody>
      </p:sp>
      <p:sp>
        <p:nvSpPr>
          <p:cNvPr id="19" name="Shape 17"/>
          <p:cNvSpPr/>
          <p:nvPr/>
        </p:nvSpPr>
        <p:spPr>
          <a:xfrm>
            <a:off x="7452360" y="2103120"/>
            <a:ext cx="4187952" cy="1600200"/>
          </a:xfrm>
          <a:prstGeom prst="roundRect">
            <a:avLst>
              <a:gd name="adj" fmla="val 4571"/>
            </a:avLst>
          </a:prstGeom>
          <a:solidFill>
            <a:srgbClr val="EFF4FD"/>
          </a:solidFill>
          <a:ln/>
        </p:spPr>
      </p:sp>
      <p:sp>
        <p:nvSpPr>
          <p:cNvPr id="20" name="Text 18"/>
          <p:cNvSpPr/>
          <p:nvPr/>
        </p:nvSpPr>
        <p:spPr>
          <a:xfrm>
            <a:off x="7708392" y="2286000"/>
            <a:ext cx="3675888" cy="12801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calcul ne sait rien du CSV
</a:t>
            </a:r>
            <a:endParaRPr lang="en-US" sz="1500" dirty="0"/>
          </a:p>
          <a:p>
            <a:pPr indent="0" marL="0">
              <a:buNone/>
            </a:pPr>
            <a:r>
              <a:rPr lang="en-US" sz="1250" dirty="0">
                <a:solidFill>
                  <a:srgbClr val="5A6284"/>
                </a:solidFill>
                <a:latin typeface="Calibri" pitchFamily="34" charset="0"/>
                <a:ea typeface="Calibri" pitchFamily="34" charset="-122"/>
                <a:cs typeface="Calibri" pitchFamily="34" charset="-120"/>
              </a:rPr>
              <a:t>il n'opère que sur des vecteurs et des entités : testable sans lire un seul fichier</a:t>
            </a:r>
            <a:endParaRPr lang="en-US" sz="1500" dirty="0"/>
          </a:p>
        </p:txBody>
      </p:sp>
      <p:sp>
        <p:nvSpPr>
          <p:cNvPr id="21" name="Shape 19"/>
          <p:cNvSpPr/>
          <p:nvPr/>
        </p:nvSpPr>
        <p:spPr>
          <a:xfrm>
            <a:off x="7452360" y="3886200"/>
            <a:ext cx="4187952" cy="1600200"/>
          </a:xfrm>
          <a:prstGeom prst="roundRect">
            <a:avLst>
              <a:gd name="adj" fmla="val 4571"/>
            </a:avLst>
          </a:prstGeom>
          <a:solidFill>
            <a:srgbClr val="EFF4FD"/>
          </a:solidFill>
          <a:ln/>
        </p:spPr>
      </p:sp>
      <p:sp>
        <p:nvSpPr>
          <p:cNvPr id="22" name="Text 20"/>
          <p:cNvSpPr/>
          <p:nvPr/>
        </p:nvSpPr>
        <p:spPr>
          <a:xfrm>
            <a:off x="7708392" y="4069080"/>
            <a:ext cx="3675888" cy="12801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seul io touche au disque
</a:t>
            </a:r>
            <a:endParaRPr lang="en-US" sz="1500" dirty="0"/>
          </a:p>
          <a:p>
            <a:pPr indent="0" marL="0">
              <a:buNone/>
            </a:pPr>
            <a:r>
              <a:rPr lang="en-US" sz="1250" dirty="0">
                <a:solidFill>
                  <a:srgbClr val="5A6284"/>
                </a:solidFill>
                <a:latin typeface="Calibri" pitchFamily="34" charset="0"/>
                <a:ea typeface="Calibri" pitchFamily="34" charset="-122"/>
                <a:cs typeface="Calibri" pitchFamily="34" charset="-120"/>
              </a:rPr>
              <a:t>Main fait 30 lignes : charger, appeler le cœur pur, afficher</a:t>
            </a:r>
            <a:endParaRPr lang="en-US" sz="1500" dirty="0"/>
          </a:p>
        </p:txBody>
      </p:sp>
      <p:sp>
        <p:nvSpPr>
          <p:cNvPr id="23" name="Text 21"/>
          <p:cNvSpPr/>
          <p:nvPr/>
        </p:nvSpPr>
        <p:spPr>
          <a:xfrm>
            <a:off x="7452360" y="5715000"/>
            <a:ext cx="4187952" cy="365760"/>
          </a:xfrm>
          <a:prstGeom prst="rect">
            <a:avLst/>
          </a:prstGeom>
          <a:noFill/>
          <a:ln/>
        </p:spPr>
        <p:txBody>
          <a:bodyPr wrap="square" lIns="0" tIns="0" rIns="0" bIns="0" rtlCol="0" anchor="ctr"/>
          <a:lstStyle/>
          <a:p>
            <a:pPr indent="0" marL="0">
              <a:buNone/>
            </a:pPr>
            <a:r>
              <a:rPr lang="en-US" sz="1300" i="1" dirty="0">
                <a:solidFill>
                  <a:srgbClr val="F96167"/>
                </a:solidFill>
                <a:latin typeface="Calibri" pitchFamily="34" charset="0"/>
                <a:ea typeface="Calibri" pitchFamily="34" charset="-122"/>
                <a:cs typeface="Calibri" pitchFamily="34" charset="-120"/>
              </a:rPr>
              <a:t>« functional core, imperative shell »</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La mesure : similarité cosinus</a:t>
            </a:r>
            <a:endParaRPr lang="en-US" sz="3200" dirty="0"/>
          </a:p>
        </p:txBody>
      </p:sp>
      <p:sp>
        <p:nvSpPr>
          <p:cNvPr id="3" name="Shape 1"/>
          <p:cNvSpPr/>
          <p:nvPr/>
        </p:nvSpPr>
        <p:spPr>
          <a:xfrm>
            <a:off x="548640" y="1463040"/>
            <a:ext cx="11091672" cy="1371600"/>
          </a:xfrm>
          <a:prstGeom prst="roundRect">
            <a:avLst>
              <a:gd name="adj" fmla="val 5333"/>
            </a:avLst>
          </a:prstGeom>
          <a:solidFill>
            <a:srgbClr val="1E2761"/>
          </a:solidFill>
          <a:ln/>
        </p:spPr>
      </p:sp>
      <p:sp>
        <p:nvSpPr>
          <p:cNvPr id="4" name="Text 2"/>
          <p:cNvSpPr/>
          <p:nvPr/>
        </p:nvSpPr>
        <p:spPr>
          <a:xfrm>
            <a:off x="914400" y="1463040"/>
            <a:ext cx="10360152" cy="1371600"/>
          </a:xfrm>
          <a:prstGeom prst="rect">
            <a:avLst/>
          </a:prstGeom>
          <a:noFill/>
          <a:ln/>
        </p:spPr>
        <p:txBody>
          <a:bodyPr wrap="square" lIns="0" tIns="0" rIns="0" bIns="0" rtlCol="0" anchor="ctr"/>
          <a:lstStyle/>
          <a:p>
            <a:pPr indent="0" marL="0">
              <a:buNone/>
            </a:pPr>
            <a:r>
              <a:rPr lang="en-US" sz="1700" b="1" dirty="0">
                <a:solidFill>
                  <a:srgbClr val="FFFFFF"/>
                </a:solidFill>
                <a:latin typeface="Courier New" pitchFamily="34" charset="0"/>
                <a:ea typeface="Courier New" pitchFamily="34" charset="-122"/>
                <a:cs typeface="Courier New" pitchFamily="34" charset="-120"/>
              </a:rPr>
              <a:t>cos(u, v)  =  u · v  /  ( ‖u‖ × ‖v‖ )          (Vector[Double], Vector[Double]) =&gt; Double</a:t>
            </a:r>
            <a:endParaRPr lang="en-US" sz="1700" dirty="0"/>
          </a:p>
        </p:txBody>
      </p:sp>
      <p:sp>
        <p:nvSpPr>
          <p:cNvPr id="5" name="Shape 3"/>
          <p:cNvSpPr/>
          <p:nvPr/>
        </p:nvSpPr>
        <p:spPr>
          <a:xfrm>
            <a:off x="548640" y="3200400"/>
            <a:ext cx="3453384" cy="3017520"/>
          </a:xfrm>
          <a:prstGeom prst="roundRect">
            <a:avLst>
              <a:gd name="adj" fmla="val 2424"/>
            </a:avLst>
          </a:prstGeom>
          <a:solidFill>
            <a:srgbClr val="EFF4FD"/>
          </a:solidFill>
          <a:ln/>
        </p:spPr>
      </p:sp>
      <p:sp>
        <p:nvSpPr>
          <p:cNvPr id="6" name="Text 4"/>
          <p:cNvSpPr/>
          <p:nvPr/>
        </p:nvSpPr>
        <p:spPr>
          <a:xfrm>
            <a:off x="804672" y="3456432"/>
            <a:ext cx="2941320" cy="685800"/>
          </a:xfrm>
          <a:prstGeom prst="rect">
            <a:avLst/>
          </a:prstGeom>
          <a:noFill/>
          <a:ln/>
        </p:spPr>
        <p:txBody>
          <a:bodyPr wrap="square" lIns="0" tIns="0" rIns="0" bIns="0" rtlCol="0" anchor="ctr"/>
          <a:lstStyle/>
          <a:p>
            <a:pPr indent="0" marL="0">
              <a:buNone/>
            </a:pPr>
            <a:r>
              <a:rPr lang="en-US" sz="1550" b="1" dirty="0">
                <a:solidFill>
                  <a:srgbClr val="1E2761"/>
                </a:solidFill>
                <a:latin typeface="Calibri" pitchFamily="34" charset="0"/>
                <a:ea typeface="Calibri" pitchFamily="34" charset="-122"/>
                <a:cs typeface="Calibri" pitchFamily="34" charset="-120"/>
              </a:rPr>
              <a:t>Le profil d'un utilisateur</a:t>
            </a:r>
            <a:endParaRPr lang="en-US" sz="1550" dirty="0"/>
          </a:p>
        </p:txBody>
      </p:sp>
      <p:sp>
        <p:nvSpPr>
          <p:cNvPr id="7" name="Text 5"/>
          <p:cNvSpPr/>
          <p:nvPr/>
        </p:nvSpPr>
        <p:spPr>
          <a:xfrm>
            <a:off x="804672" y="4206240"/>
            <a:ext cx="2941320" cy="1874520"/>
          </a:xfrm>
          <a:prstGeom prst="rect">
            <a:avLst/>
          </a:prstGeom>
          <a:noFill/>
          <a:ln/>
        </p:spPr>
        <p:txBody>
          <a:bodyPr wrap="square" lIns="0" tIns="0" rIns="0" bIns="0" rtlCol="0" anchor="ctr"/>
          <a:lstStyle/>
          <a:p>
            <a:pPr indent="0" marL="0">
              <a:buNone/>
            </a:pPr>
            <a:r>
              <a:rPr lang="en-US" sz="1300" dirty="0">
                <a:solidFill>
                  <a:srgbClr val="5A6284"/>
                </a:solidFill>
                <a:latin typeface="Calibri" pitchFamily="34" charset="0"/>
                <a:ea typeface="Calibri" pitchFamily="34" charset="-122"/>
                <a:cs typeface="Calibri" pitchFamily="34" charset="-120"/>
              </a:rPr>
              <a:t>une coordonnée par item : le signal le plus fort émis — vue 1, note 1 à 5, achat 5. Vu PUIS acheté = max, pas la somme.</a:t>
            </a:r>
            <a:endParaRPr lang="en-US" sz="1300" dirty="0"/>
          </a:p>
        </p:txBody>
      </p:sp>
      <p:sp>
        <p:nvSpPr>
          <p:cNvPr id="8" name="Shape 6"/>
          <p:cNvSpPr/>
          <p:nvPr/>
        </p:nvSpPr>
        <p:spPr>
          <a:xfrm>
            <a:off x="4367784" y="3200400"/>
            <a:ext cx="3453384" cy="3017520"/>
          </a:xfrm>
          <a:prstGeom prst="roundRect">
            <a:avLst>
              <a:gd name="adj" fmla="val 2424"/>
            </a:avLst>
          </a:prstGeom>
          <a:solidFill>
            <a:srgbClr val="EFF4FD"/>
          </a:solidFill>
          <a:ln/>
        </p:spPr>
      </p:sp>
      <p:sp>
        <p:nvSpPr>
          <p:cNvPr id="9" name="Text 7"/>
          <p:cNvSpPr/>
          <p:nvPr/>
        </p:nvSpPr>
        <p:spPr>
          <a:xfrm>
            <a:off x="4623816" y="3456432"/>
            <a:ext cx="2941320" cy="685800"/>
          </a:xfrm>
          <a:prstGeom prst="rect">
            <a:avLst/>
          </a:prstGeom>
          <a:noFill/>
          <a:ln/>
        </p:spPr>
        <p:txBody>
          <a:bodyPr wrap="square" lIns="0" tIns="0" rIns="0" bIns="0" rtlCol="0" anchor="ctr"/>
          <a:lstStyle/>
          <a:p>
            <a:pPr indent="0" marL="0">
              <a:buNone/>
            </a:pPr>
            <a:r>
              <a:rPr lang="en-US" sz="1550" b="1" dirty="0">
                <a:solidFill>
                  <a:srgbClr val="1E2761"/>
                </a:solidFill>
                <a:latin typeface="Calibri" pitchFamily="34" charset="0"/>
                <a:ea typeface="Calibri" pitchFamily="34" charset="-122"/>
                <a:cs typeface="Calibri" pitchFamily="34" charset="-120"/>
              </a:rPr>
              <a:t>Pourquoi le cosinus</a:t>
            </a:r>
            <a:endParaRPr lang="en-US" sz="1550" dirty="0"/>
          </a:p>
        </p:txBody>
      </p:sp>
      <p:sp>
        <p:nvSpPr>
          <p:cNvPr id="10" name="Text 8"/>
          <p:cNvSpPr/>
          <p:nvPr/>
        </p:nvSpPr>
        <p:spPr>
          <a:xfrm>
            <a:off x="4623816" y="4206240"/>
            <a:ext cx="2941320" cy="1874520"/>
          </a:xfrm>
          <a:prstGeom prst="rect">
            <a:avLst/>
          </a:prstGeom>
          <a:noFill/>
          <a:ln/>
        </p:spPr>
        <p:txBody>
          <a:bodyPr wrap="square" lIns="0" tIns="0" rIns="0" bIns="0" rtlCol="0" anchor="ctr"/>
          <a:lstStyle/>
          <a:p>
            <a:pPr indent="0" marL="0">
              <a:buNone/>
            </a:pPr>
            <a:r>
              <a:rPr lang="en-US" sz="1300" dirty="0">
                <a:solidFill>
                  <a:srgbClr val="5A6284"/>
                </a:solidFill>
                <a:latin typeface="Calibri" pitchFamily="34" charset="0"/>
                <a:ea typeface="Calibri" pitchFamily="34" charset="-122"/>
                <a:cs typeface="Calibri" pitchFamily="34" charset="-120"/>
              </a:rPr>
              <a:t>insensible à l'intensité d'activité : il compare des directions de goût. Un fidèle très actif et un occasionnel discret peuvent être très proches.</a:t>
            </a:r>
            <a:endParaRPr lang="en-US" sz="1300" dirty="0"/>
          </a:p>
        </p:txBody>
      </p:sp>
      <p:sp>
        <p:nvSpPr>
          <p:cNvPr id="11" name="Shape 9"/>
          <p:cNvSpPr/>
          <p:nvPr/>
        </p:nvSpPr>
        <p:spPr>
          <a:xfrm>
            <a:off x="8186928" y="3200400"/>
            <a:ext cx="3453384" cy="3017520"/>
          </a:xfrm>
          <a:prstGeom prst="roundRect">
            <a:avLst>
              <a:gd name="adj" fmla="val 2424"/>
            </a:avLst>
          </a:prstGeom>
          <a:solidFill>
            <a:srgbClr val="EFF4FD"/>
          </a:solidFill>
          <a:ln/>
        </p:spPr>
      </p:sp>
      <p:sp>
        <p:nvSpPr>
          <p:cNvPr id="12" name="Text 10"/>
          <p:cNvSpPr/>
          <p:nvPr/>
        </p:nvSpPr>
        <p:spPr>
          <a:xfrm>
            <a:off x="8442960" y="3456432"/>
            <a:ext cx="2941320" cy="685800"/>
          </a:xfrm>
          <a:prstGeom prst="rect">
            <a:avLst/>
          </a:prstGeom>
          <a:noFill/>
          <a:ln/>
        </p:spPr>
        <p:txBody>
          <a:bodyPr wrap="square" lIns="0" tIns="0" rIns="0" bIns="0" rtlCol="0" anchor="ctr"/>
          <a:lstStyle/>
          <a:p>
            <a:pPr indent="0" marL="0">
              <a:buNone/>
            </a:pPr>
            <a:r>
              <a:rPr lang="en-US" sz="1550" b="1" dirty="0">
                <a:solidFill>
                  <a:srgbClr val="1E2761"/>
                </a:solidFill>
                <a:latin typeface="Calibri" pitchFamily="34" charset="0"/>
                <a:ea typeface="Calibri" pitchFamily="34" charset="-122"/>
                <a:cs typeface="Calibri" pitchFamily="34" charset="-120"/>
              </a:rPr>
              <a:t>Le lien métier</a:t>
            </a:r>
            <a:endParaRPr lang="en-US" sz="1550" dirty="0"/>
          </a:p>
        </p:txBody>
      </p:sp>
      <p:sp>
        <p:nvSpPr>
          <p:cNvPr id="13" name="Text 11"/>
          <p:cNvSpPr/>
          <p:nvPr/>
        </p:nvSpPr>
        <p:spPr>
          <a:xfrm>
            <a:off x="8442960" y="4206240"/>
            <a:ext cx="2941320" cy="1874520"/>
          </a:xfrm>
          <a:prstGeom prst="rect">
            <a:avLst/>
          </a:prstGeom>
          <a:noFill/>
          <a:ln/>
        </p:spPr>
        <p:txBody>
          <a:bodyPr wrap="square" lIns="0" tIns="0" rIns="0" bIns="0" rtlCol="0" anchor="ctr"/>
          <a:lstStyle/>
          <a:p>
            <a:pPr indent="0" marL="0">
              <a:buNone/>
            </a:pPr>
            <a:r>
              <a:rPr lang="en-US" sz="1300" dirty="0">
                <a:solidFill>
                  <a:srgbClr val="5A6284"/>
                </a:solidFill>
                <a:latin typeface="Calibri" pitchFamily="34" charset="0"/>
                <a:ea typeface="Calibri" pitchFamily="34" charset="-122"/>
                <a:cs typeface="Calibri" pitchFamily="34" charset="-120"/>
              </a:rPr>
              <a:t>des voisins de goût, pas de gros acheteurs : la suggestion a une vraie chance de plaire — c'est l'objectif « taux de clic ».</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Le pipeline de recommandation</a:t>
            </a:r>
            <a:endParaRPr lang="en-US" sz="3200" dirty="0"/>
          </a:p>
        </p:txBody>
      </p:sp>
      <p:sp>
        <p:nvSpPr>
          <p:cNvPr id="3" name="Shape 1"/>
          <p:cNvSpPr/>
          <p:nvPr/>
        </p:nvSpPr>
        <p:spPr>
          <a:xfrm>
            <a:off x="548640" y="1554480"/>
            <a:ext cx="2395728" cy="2286000"/>
          </a:xfrm>
          <a:prstGeom prst="roundRect">
            <a:avLst>
              <a:gd name="adj" fmla="val 3200"/>
            </a:avLst>
          </a:prstGeom>
          <a:solidFill>
            <a:srgbClr val="EFF4FD"/>
          </a:solidFill>
          <a:ln/>
        </p:spPr>
      </p:sp>
      <p:sp>
        <p:nvSpPr>
          <p:cNvPr id="4" name="Shape 2"/>
          <p:cNvSpPr/>
          <p:nvPr/>
        </p:nvSpPr>
        <p:spPr>
          <a:xfrm>
            <a:off x="777240" y="1810512"/>
            <a:ext cx="420624" cy="420624"/>
          </a:xfrm>
          <a:prstGeom prst="ellipse">
            <a:avLst/>
          </a:prstGeom>
          <a:solidFill>
            <a:srgbClr val="1E2761"/>
          </a:solidFill>
          <a:ln/>
        </p:spPr>
      </p:sp>
      <p:sp>
        <p:nvSpPr>
          <p:cNvPr id="5" name="Text 3"/>
          <p:cNvSpPr/>
          <p:nvPr/>
        </p:nvSpPr>
        <p:spPr>
          <a:xfrm>
            <a:off x="777240" y="1796796"/>
            <a:ext cx="420624" cy="420624"/>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6" name="Text 4"/>
          <p:cNvSpPr/>
          <p:nvPr/>
        </p:nvSpPr>
        <p:spPr>
          <a:xfrm>
            <a:off x="1325880" y="1828800"/>
            <a:ext cx="1481328" cy="411480"/>
          </a:xfrm>
          <a:prstGeom prst="rect">
            <a:avLst/>
          </a:prstGeom>
          <a:noFill/>
          <a:ln/>
        </p:spPr>
        <p:txBody>
          <a:bodyPr wrap="square" lIns="0" tIns="0" rIns="0" bIns="0" rtlCol="0" anchor="ctr"/>
          <a:lstStyle/>
          <a:p>
            <a:pPr indent="0" marL="0">
              <a:buNone/>
            </a:pPr>
            <a:r>
              <a:rPr lang="en-US" sz="1650" b="1" dirty="0">
                <a:solidFill>
                  <a:srgbClr val="1E2761"/>
                </a:solidFill>
                <a:latin typeface="Calibri" pitchFamily="34" charset="0"/>
                <a:ea typeface="Calibri" pitchFamily="34" charset="-122"/>
                <a:cs typeface="Calibri" pitchFamily="34" charset="-120"/>
              </a:rPr>
              <a:t>Scoring</a:t>
            </a:r>
            <a:endParaRPr lang="en-US" sz="1650" dirty="0"/>
          </a:p>
        </p:txBody>
      </p:sp>
      <p:sp>
        <p:nvSpPr>
          <p:cNvPr id="7" name="Text 5"/>
          <p:cNvSpPr/>
          <p:nvPr/>
        </p:nvSpPr>
        <p:spPr>
          <a:xfrm>
            <a:off x="795528" y="2423160"/>
            <a:ext cx="1901952" cy="1280160"/>
          </a:xfrm>
          <a:prstGeom prst="rect">
            <a:avLst/>
          </a:prstGeom>
          <a:noFill/>
          <a:ln/>
        </p:spPr>
        <p:txBody>
          <a:bodyPr wrap="square" lIns="0" tIns="0" rIns="0" bIns="0" rtlCol="0" anchor="ctr"/>
          <a:lstStyle/>
          <a:p>
            <a:pPr indent="0" marL="0">
              <a:buNone/>
            </a:pPr>
            <a:r>
              <a:rPr lang="en-US" sz="1250" dirty="0">
                <a:solidFill>
                  <a:srgbClr val="5A6284"/>
                </a:solidFill>
                <a:latin typeface="Calibri" pitchFamily="34" charset="0"/>
                <a:ea typeface="Calibri" pitchFamily="34" charset="-122"/>
                <a:cs typeface="Calibri" pitchFamily="34" charset="-120"/>
              </a:rPr>
              <a:t>similarité × signal du voisin, sommée sur les voisins</a:t>
            </a:r>
            <a:endParaRPr lang="en-US" sz="1250" dirty="0"/>
          </a:p>
        </p:txBody>
      </p:sp>
      <p:sp>
        <p:nvSpPr>
          <p:cNvPr id="8" name="Shape 6"/>
          <p:cNvSpPr/>
          <p:nvPr/>
        </p:nvSpPr>
        <p:spPr>
          <a:xfrm>
            <a:off x="3017520" y="2514600"/>
            <a:ext cx="365760" cy="310896"/>
          </a:xfrm>
          <a:prstGeom prst="rightArrow">
            <a:avLst/>
          </a:prstGeom>
          <a:solidFill>
            <a:srgbClr val="F96167"/>
          </a:solidFill>
          <a:ln/>
        </p:spPr>
      </p:sp>
      <p:sp>
        <p:nvSpPr>
          <p:cNvPr id="9" name="Shape 7"/>
          <p:cNvSpPr/>
          <p:nvPr/>
        </p:nvSpPr>
        <p:spPr>
          <a:xfrm>
            <a:off x="3447288" y="1554480"/>
            <a:ext cx="2395728" cy="2286000"/>
          </a:xfrm>
          <a:prstGeom prst="roundRect">
            <a:avLst>
              <a:gd name="adj" fmla="val 3200"/>
            </a:avLst>
          </a:prstGeom>
          <a:solidFill>
            <a:srgbClr val="EFF4FD"/>
          </a:solidFill>
          <a:ln/>
        </p:spPr>
      </p:sp>
      <p:sp>
        <p:nvSpPr>
          <p:cNvPr id="10" name="Shape 8"/>
          <p:cNvSpPr/>
          <p:nvPr/>
        </p:nvSpPr>
        <p:spPr>
          <a:xfrm>
            <a:off x="3675888" y="1810512"/>
            <a:ext cx="420624" cy="420624"/>
          </a:xfrm>
          <a:prstGeom prst="ellipse">
            <a:avLst/>
          </a:prstGeom>
          <a:solidFill>
            <a:srgbClr val="1E2761"/>
          </a:solidFill>
          <a:ln/>
        </p:spPr>
      </p:sp>
      <p:sp>
        <p:nvSpPr>
          <p:cNvPr id="11" name="Text 9"/>
          <p:cNvSpPr/>
          <p:nvPr/>
        </p:nvSpPr>
        <p:spPr>
          <a:xfrm>
            <a:off x="3675888" y="1796796"/>
            <a:ext cx="420624" cy="420624"/>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2" name="Text 10"/>
          <p:cNvSpPr/>
          <p:nvPr/>
        </p:nvSpPr>
        <p:spPr>
          <a:xfrm>
            <a:off x="4224528" y="1828800"/>
            <a:ext cx="1481328" cy="411480"/>
          </a:xfrm>
          <a:prstGeom prst="rect">
            <a:avLst/>
          </a:prstGeom>
          <a:noFill/>
          <a:ln/>
        </p:spPr>
        <p:txBody>
          <a:bodyPr wrap="square" lIns="0" tIns="0" rIns="0" bIns="0" rtlCol="0" anchor="ctr"/>
          <a:lstStyle/>
          <a:p>
            <a:pPr indent="0" marL="0">
              <a:buNone/>
            </a:pPr>
            <a:r>
              <a:rPr lang="en-US" sz="1650" b="1" dirty="0">
                <a:solidFill>
                  <a:srgbClr val="1E2761"/>
                </a:solidFill>
                <a:latin typeface="Calibri" pitchFamily="34" charset="0"/>
                <a:ea typeface="Calibri" pitchFamily="34" charset="-122"/>
                <a:cs typeface="Calibri" pitchFamily="34" charset="-120"/>
              </a:rPr>
              <a:t>Filtrage</a:t>
            </a:r>
            <a:endParaRPr lang="en-US" sz="1650" dirty="0"/>
          </a:p>
        </p:txBody>
      </p:sp>
      <p:sp>
        <p:nvSpPr>
          <p:cNvPr id="13" name="Text 11"/>
          <p:cNvSpPr/>
          <p:nvPr/>
        </p:nvSpPr>
        <p:spPr>
          <a:xfrm>
            <a:off x="3694176" y="2423160"/>
            <a:ext cx="1901952" cy="1280160"/>
          </a:xfrm>
          <a:prstGeom prst="rect">
            <a:avLst/>
          </a:prstGeom>
          <a:noFill/>
          <a:ln/>
        </p:spPr>
        <p:txBody>
          <a:bodyPr wrap="square" lIns="0" tIns="0" rIns="0" bIns="0" rtlCol="0" anchor="ctr"/>
          <a:lstStyle/>
          <a:p>
            <a:pPr indent="0" marL="0">
              <a:buNone/>
            </a:pPr>
            <a:r>
              <a:rPr lang="en-US" sz="1250" dirty="0">
                <a:solidFill>
                  <a:srgbClr val="5A6284"/>
                </a:solidFill>
                <a:latin typeface="Calibri" pitchFamily="34" charset="0"/>
                <a:ea typeface="Calibri" pitchFamily="34" charset="-122"/>
                <a:cs typeface="Calibri" pitchFamily="34" charset="-120"/>
              </a:rPr>
              <a:t>filterNot : jamais un produit déjà connu</a:t>
            </a:r>
            <a:endParaRPr lang="en-US" sz="1250" dirty="0"/>
          </a:p>
        </p:txBody>
      </p:sp>
      <p:sp>
        <p:nvSpPr>
          <p:cNvPr id="14" name="Shape 12"/>
          <p:cNvSpPr/>
          <p:nvPr/>
        </p:nvSpPr>
        <p:spPr>
          <a:xfrm>
            <a:off x="5916168" y="2514600"/>
            <a:ext cx="365760" cy="310896"/>
          </a:xfrm>
          <a:prstGeom prst="rightArrow">
            <a:avLst/>
          </a:prstGeom>
          <a:solidFill>
            <a:srgbClr val="F96167"/>
          </a:solidFill>
          <a:ln/>
        </p:spPr>
      </p:sp>
      <p:sp>
        <p:nvSpPr>
          <p:cNvPr id="15" name="Shape 13"/>
          <p:cNvSpPr/>
          <p:nvPr/>
        </p:nvSpPr>
        <p:spPr>
          <a:xfrm>
            <a:off x="6345936" y="1554480"/>
            <a:ext cx="2395728" cy="2286000"/>
          </a:xfrm>
          <a:prstGeom prst="roundRect">
            <a:avLst>
              <a:gd name="adj" fmla="val 3200"/>
            </a:avLst>
          </a:prstGeom>
          <a:solidFill>
            <a:srgbClr val="EFF4FD"/>
          </a:solidFill>
          <a:ln/>
        </p:spPr>
      </p:sp>
      <p:sp>
        <p:nvSpPr>
          <p:cNvPr id="16" name="Shape 14"/>
          <p:cNvSpPr/>
          <p:nvPr/>
        </p:nvSpPr>
        <p:spPr>
          <a:xfrm>
            <a:off x="6574536" y="1810512"/>
            <a:ext cx="420624" cy="420624"/>
          </a:xfrm>
          <a:prstGeom prst="ellipse">
            <a:avLst/>
          </a:prstGeom>
          <a:solidFill>
            <a:srgbClr val="1E2761"/>
          </a:solidFill>
          <a:ln/>
        </p:spPr>
      </p:sp>
      <p:sp>
        <p:nvSpPr>
          <p:cNvPr id="17" name="Text 15"/>
          <p:cNvSpPr/>
          <p:nvPr/>
        </p:nvSpPr>
        <p:spPr>
          <a:xfrm>
            <a:off x="6574536" y="1796796"/>
            <a:ext cx="420624" cy="420624"/>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18" name="Text 16"/>
          <p:cNvSpPr/>
          <p:nvPr/>
        </p:nvSpPr>
        <p:spPr>
          <a:xfrm>
            <a:off x="7123176" y="1828800"/>
            <a:ext cx="1481328" cy="411480"/>
          </a:xfrm>
          <a:prstGeom prst="rect">
            <a:avLst/>
          </a:prstGeom>
          <a:noFill/>
          <a:ln/>
        </p:spPr>
        <p:txBody>
          <a:bodyPr wrap="square" lIns="0" tIns="0" rIns="0" bIns="0" rtlCol="0" anchor="ctr"/>
          <a:lstStyle/>
          <a:p>
            <a:pPr indent="0" marL="0">
              <a:buNone/>
            </a:pPr>
            <a:r>
              <a:rPr lang="en-US" sz="1650" b="1" dirty="0">
                <a:solidFill>
                  <a:srgbClr val="1E2761"/>
                </a:solidFill>
                <a:latin typeface="Calibri" pitchFamily="34" charset="0"/>
                <a:ea typeface="Calibri" pitchFamily="34" charset="-122"/>
                <a:cs typeface="Calibri" pitchFamily="34" charset="-120"/>
              </a:rPr>
              <a:t>Tri</a:t>
            </a:r>
            <a:endParaRPr lang="en-US" sz="1650" dirty="0"/>
          </a:p>
        </p:txBody>
      </p:sp>
      <p:sp>
        <p:nvSpPr>
          <p:cNvPr id="19" name="Text 17"/>
          <p:cNvSpPr/>
          <p:nvPr/>
        </p:nvSpPr>
        <p:spPr>
          <a:xfrm>
            <a:off x="6592824" y="2423160"/>
            <a:ext cx="1901952" cy="1280160"/>
          </a:xfrm>
          <a:prstGeom prst="rect">
            <a:avLst/>
          </a:prstGeom>
          <a:noFill/>
          <a:ln/>
        </p:spPr>
        <p:txBody>
          <a:bodyPr wrap="square" lIns="0" tIns="0" rIns="0" bIns="0" rtlCol="0" anchor="ctr"/>
          <a:lstStyle/>
          <a:p>
            <a:pPr indent="0" marL="0">
              <a:buNone/>
            </a:pPr>
            <a:r>
              <a:rPr lang="en-US" sz="1250" dirty="0">
                <a:solidFill>
                  <a:srgbClr val="5A6284"/>
                </a:solidFill>
                <a:latin typeface="Calibri" pitchFamily="34" charset="0"/>
                <a:ea typeface="Calibri" pitchFamily="34" charset="-122"/>
                <a:cs typeface="Calibri" pitchFamily="34" charset="-120"/>
              </a:rPr>
              <a:t>score décroissant, départage par id : reproductible</a:t>
            </a:r>
            <a:endParaRPr lang="en-US" sz="1250" dirty="0"/>
          </a:p>
        </p:txBody>
      </p:sp>
      <p:sp>
        <p:nvSpPr>
          <p:cNvPr id="20" name="Shape 18"/>
          <p:cNvSpPr/>
          <p:nvPr/>
        </p:nvSpPr>
        <p:spPr>
          <a:xfrm>
            <a:off x="8814816" y="2514600"/>
            <a:ext cx="365760" cy="310896"/>
          </a:xfrm>
          <a:prstGeom prst="rightArrow">
            <a:avLst/>
          </a:prstGeom>
          <a:solidFill>
            <a:srgbClr val="F96167"/>
          </a:solidFill>
          <a:ln/>
        </p:spPr>
      </p:sp>
      <p:sp>
        <p:nvSpPr>
          <p:cNvPr id="21" name="Shape 19"/>
          <p:cNvSpPr/>
          <p:nvPr/>
        </p:nvSpPr>
        <p:spPr>
          <a:xfrm>
            <a:off x="9244584" y="1554480"/>
            <a:ext cx="2395728" cy="2286000"/>
          </a:xfrm>
          <a:prstGeom prst="roundRect">
            <a:avLst>
              <a:gd name="adj" fmla="val 3200"/>
            </a:avLst>
          </a:prstGeom>
          <a:solidFill>
            <a:srgbClr val="EFF4FD"/>
          </a:solidFill>
          <a:ln/>
        </p:spPr>
      </p:sp>
      <p:sp>
        <p:nvSpPr>
          <p:cNvPr id="22" name="Shape 20"/>
          <p:cNvSpPr/>
          <p:nvPr/>
        </p:nvSpPr>
        <p:spPr>
          <a:xfrm>
            <a:off x="9473184" y="1810512"/>
            <a:ext cx="420624" cy="420624"/>
          </a:xfrm>
          <a:prstGeom prst="ellipse">
            <a:avLst/>
          </a:prstGeom>
          <a:solidFill>
            <a:srgbClr val="1E2761"/>
          </a:solidFill>
          <a:ln/>
        </p:spPr>
      </p:sp>
      <p:sp>
        <p:nvSpPr>
          <p:cNvPr id="23" name="Text 21"/>
          <p:cNvSpPr/>
          <p:nvPr/>
        </p:nvSpPr>
        <p:spPr>
          <a:xfrm>
            <a:off x="9473184" y="1796796"/>
            <a:ext cx="420624" cy="420624"/>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4</a:t>
            </a:r>
            <a:endParaRPr lang="en-US" sz="1700" dirty="0"/>
          </a:p>
        </p:txBody>
      </p:sp>
      <p:sp>
        <p:nvSpPr>
          <p:cNvPr id="24" name="Text 22"/>
          <p:cNvSpPr/>
          <p:nvPr/>
        </p:nvSpPr>
        <p:spPr>
          <a:xfrm>
            <a:off x="10021824" y="1828800"/>
            <a:ext cx="1481328" cy="411480"/>
          </a:xfrm>
          <a:prstGeom prst="rect">
            <a:avLst/>
          </a:prstGeom>
          <a:noFill/>
          <a:ln/>
        </p:spPr>
        <p:txBody>
          <a:bodyPr wrap="square" lIns="0" tIns="0" rIns="0" bIns="0" rtlCol="0" anchor="ctr"/>
          <a:lstStyle/>
          <a:p>
            <a:pPr indent="0" marL="0">
              <a:buNone/>
            </a:pPr>
            <a:r>
              <a:rPr lang="en-US" sz="1650" b="1" dirty="0">
                <a:solidFill>
                  <a:srgbClr val="1E2761"/>
                </a:solidFill>
                <a:latin typeface="Calibri" pitchFamily="34" charset="0"/>
                <a:ea typeface="Calibri" pitchFamily="34" charset="-122"/>
                <a:cs typeface="Calibri" pitchFamily="34" charset="-120"/>
              </a:rPr>
              <a:t>Top-N</a:t>
            </a:r>
            <a:endParaRPr lang="en-US" sz="1650" dirty="0"/>
          </a:p>
        </p:txBody>
      </p:sp>
      <p:sp>
        <p:nvSpPr>
          <p:cNvPr id="25" name="Text 23"/>
          <p:cNvSpPr/>
          <p:nvPr/>
        </p:nvSpPr>
        <p:spPr>
          <a:xfrm>
            <a:off x="9491472" y="2423160"/>
            <a:ext cx="1901952" cy="1280160"/>
          </a:xfrm>
          <a:prstGeom prst="rect">
            <a:avLst/>
          </a:prstGeom>
          <a:noFill/>
          <a:ln/>
        </p:spPr>
        <p:txBody>
          <a:bodyPr wrap="square" lIns="0" tIns="0" rIns="0" bIns="0" rtlCol="0" anchor="ctr"/>
          <a:lstStyle/>
          <a:p>
            <a:pPr indent="0" marL="0">
              <a:buNone/>
            </a:pPr>
            <a:r>
              <a:rPr lang="en-US" sz="1250" dirty="0">
                <a:solidFill>
                  <a:srgbClr val="5A6284"/>
                </a:solidFill>
                <a:latin typeface="Calibri" pitchFamily="34" charset="0"/>
                <a:ea typeface="Calibri" pitchFamily="34" charset="-122"/>
                <a:cs typeface="Calibri" pitchFamily="34" charset="-120"/>
              </a:rPr>
              <a:t>take(n) puis Recommandation(item, score, justification)</a:t>
            </a:r>
            <a:endParaRPr lang="en-US" sz="1250" dirty="0"/>
          </a:p>
        </p:txBody>
      </p:sp>
      <p:sp>
        <p:nvSpPr>
          <p:cNvPr id="26" name="Shape 24"/>
          <p:cNvSpPr/>
          <p:nvPr/>
        </p:nvSpPr>
        <p:spPr>
          <a:xfrm>
            <a:off x="548640" y="4206240"/>
            <a:ext cx="11091672" cy="2103120"/>
          </a:xfrm>
          <a:prstGeom prst="roundRect">
            <a:avLst>
              <a:gd name="adj" fmla="val 3478"/>
            </a:avLst>
          </a:prstGeom>
          <a:solidFill>
            <a:srgbClr val="1E2761"/>
          </a:solidFill>
          <a:ln/>
        </p:spPr>
      </p:sp>
      <p:sp>
        <p:nvSpPr>
          <p:cNvPr id="27" name="Text 25"/>
          <p:cNvSpPr/>
          <p:nvPr/>
        </p:nvSpPr>
        <p:spPr>
          <a:xfrm>
            <a:off x="914400" y="4498848"/>
            <a:ext cx="6400800" cy="457200"/>
          </a:xfrm>
          <a:prstGeom prst="rect">
            <a:avLst/>
          </a:prstGeom>
          <a:noFill/>
          <a:ln/>
        </p:spPr>
        <p:txBody>
          <a:bodyPr wrap="square" lIns="0" tIns="0" rIns="0" bIns="0" rtlCol="0" anchor="ctr"/>
          <a:lstStyle/>
          <a:p>
            <a:pPr indent="0" marL="0">
              <a:buNone/>
            </a:pPr>
            <a:r>
              <a:rPr lang="en-US" sz="1800" b="1" dirty="0">
                <a:solidFill>
                  <a:srgbClr val="F96167"/>
                </a:solidFill>
                <a:latin typeface="Cambria" pitchFamily="34" charset="0"/>
                <a:ea typeface="Cambria" pitchFamily="34" charset="-122"/>
                <a:cs typeface="Cambria" pitchFamily="34" charset="-120"/>
              </a:rPr>
              <a:t>Cold start — porté par le type Option</a:t>
            </a:r>
            <a:endParaRPr lang="en-US" sz="1800" dirty="0"/>
          </a:p>
        </p:txBody>
      </p:sp>
      <p:sp>
        <p:nvSpPr>
          <p:cNvPr id="28" name="Text 26"/>
          <p:cNvSpPr/>
          <p:nvPr/>
        </p:nvSpPr>
        <p:spPr>
          <a:xfrm>
            <a:off x="914400" y="4983480"/>
            <a:ext cx="10360152" cy="1234440"/>
          </a:xfrm>
          <a:prstGeom prst="rect">
            <a:avLst/>
          </a:prstGeom>
          <a:noFill/>
          <a:ln/>
        </p:spPr>
        <p:txBody>
          <a:bodyPr wrap="square" lIns="0" tIns="0" rIns="0" bIns="0" rtlCol="0" anchor="ctr"/>
          <a:lstStyle/>
          <a:p>
            <a:pPr indent="0" marL="0">
              <a:spcAft>
                <a:spcPts val="800"/>
              </a:spcAft>
              <a:buNone/>
            </a:pPr>
            <a:r>
              <a:rPr lang="en-US" sz="1350" dirty="0">
                <a:solidFill>
                  <a:srgbClr val="7EE787"/>
                </a:solidFill>
                <a:latin typeface="Courier New" pitchFamily="34" charset="0"/>
                <a:ea typeface="Courier New" pitchFamily="34" charset="-122"/>
                <a:cs typeface="Courier New" pitchFamily="34" charset="-120"/>
              </a:rPr>
              <a:t>personnalisees(...): Option[List[Recommandation]]</a:t>
            </a:r>
            <a:endParaRPr lang="en-US" sz="1350" dirty="0"/>
          </a:p>
          <a:p>
            <a:pPr marL="342900" indent="-342900">
              <a:spcAft>
                <a:spcPts val="600"/>
              </a:spcAft>
              <a:buSzPct val="100000"/>
              <a:buChar char="•"/>
            </a:pPr>
            <a:r>
              <a:rPr lang="en-US" sz="1350" dirty="0">
                <a:solidFill>
                  <a:srgbClr val="CADCFC"/>
                </a:solidFill>
                <a:latin typeface="Calibri" pitchFamily="34" charset="0"/>
                <a:ea typeface="Calibri" pitchFamily="34" charset="-122"/>
                <a:cs typeface="Calibri" pitchFamily="34" charset="-120"/>
              </a:rPr>
              <a:t>None si segment « nouveau », ou si aucun voisin n'apporte de candidat inédit</a:t>
            </a:r>
            <a:endParaRPr lang="en-US" sz="1350" dirty="0"/>
          </a:p>
          <a:p>
            <a:pPr marL="342900" indent="-342900">
              <a:buSzPct val="100000"/>
              <a:buChar char="•"/>
            </a:pPr>
            <a:r>
              <a:rPr lang="en-US" sz="1350" dirty="0">
                <a:solidFill>
                  <a:srgbClr val="CADCFC"/>
                </a:solidFill>
                <a:latin typeface="Calibri" pitchFamily="34" charset="0"/>
                <a:ea typeface="Calibri" pitchFamily="34" charset="-122"/>
                <a:cs typeface="Calibri" pitchFamily="34" charset="-120"/>
              </a:rPr>
              <a:t>getOrElse(populaires) : repli sur les items les plus populaires, jamais déjà connus, avec justification explicite</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Les principes fonctionnels, tenus partout</a:t>
            </a:r>
            <a:endParaRPr lang="en-US" sz="3200" dirty="0"/>
          </a:p>
        </p:txBody>
      </p:sp>
      <p:sp>
        <p:nvSpPr>
          <p:cNvPr id="3" name="Shape 1"/>
          <p:cNvSpPr/>
          <p:nvPr/>
        </p:nvSpPr>
        <p:spPr>
          <a:xfrm>
            <a:off x="548640" y="1554480"/>
            <a:ext cx="3422904" cy="2011680"/>
          </a:xfrm>
          <a:prstGeom prst="roundRect">
            <a:avLst>
              <a:gd name="adj" fmla="val 3636"/>
            </a:avLst>
          </a:prstGeom>
          <a:solidFill>
            <a:srgbClr val="EFF4FD"/>
          </a:solidFill>
          <a:ln/>
        </p:spPr>
      </p:sp>
      <p:sp>
        <p:nvSpPr>
          <p:cNvPr id="4" name="Text 2"/>
          <p:cNvSpPr/>
          <p:nvPr/>
        </p:nvSpPr>
        <p:spPr>
          <a:xfrm>
            <a:off x="795528" y="1755648"/>
            <a:ext cx="2929128" cy="548640"/>
          </a:xfrm>
          <a:prstGeom prst="rect">
            <a:avLst/>
          </a:prstGeom>
          <a:noFill/>
          <a:ln/>
        </p:spPr>
        <p:txBody>
          <a:bodyPr wrap="square" lIns="0" tIns="0" rIns="0" bIns="0" rtlCol="0" anchor="ctr"/>
          <a:lstStyle/>
          <a:p>
            <a:pPr indent="0" marL="0">
              <a:buNone/>
            </a:pPr>
            <a:r>
              <a:rPr lang="en-US" sz="1550" b="1" dirty="0">
                <a:solidFill>
                  <a:srgbClr val="1E2761"/>
                </a:solidFill>
                <a:latin typeface="Calibri" pitchFamily="34" charset="0"/>
                <a:ea typeface="Calibri" pitchFamily="34" charset="-122"/>
                <a:cs typeface="Calibri" pitchFamily="34" charset="-120"/>
              </a:rPr>
              <a:t>Immutabilité</a:t>
            </a:r>
            <a:endParaRPr lang="en-US" sz="1550" dirty="0"/>
          </a:p>
        </p:txBody>
      </p:sp>
      <p:sp>
        <p:nvSpPr>
          <p:cNvPr id="5" name="Text 3"/>
          <p:cNvSpPr/>
          <p:nvPr/>
        </p:nvSpPr>
        <p:spPr>
          <a:xfrm>
            <a:off x="795528" y="2331720"/>
            <a:ext cx="2929128" cy="1097280"/>
          </a:xfrm>
          <a:prstGeom prst="rect">
            <a:avLst/>
          </a:prstGeom>
          <a:noFill/>
          <a:ln/>
        </p:spPr>
        <p:txBody>
          <a:bodyPr wrap="square" lIns="0" tIns="0" rIns="0" bIns="0" rtlCol="0" anchor="ctr"/>
          <a:lstStyle/>
          <a:p>
            <a:pPr indent="0" marL="0">
              <a:buNone/>
            </a:pPr>
            <a:r>
              <a:rPr lang="en-US" sz="1200" dirty="0">
                <a:solidFill>
                  <a:srgbClr val="5A6284"/>
                </a:solidFill>
                <a:latin typeface="Calibri" pitchFamily="34" charset="0"/>
                <a:ea typeface="Calibri" pitchFamily="34" charset="-122"/>
                <a:cs typeface="Calibri" pitchFamily="34" charset="-120"/>
              </a:rPr>
              <a:t>val, case class, List / Vector / Map ; les ajouts rendent un nouveau Catalogue</a:t>
            </a:r>
            <a:endParaRPr lang="en-US" sz="1200" dirty="0"/>
          </a:p>
        </p:txBody>
      </p:sp>
      <p:sp>
        <p:nvSpPr>
          <p:cNvPr id="6" name="Shape 4"/>
          <p:cNvSpPr/>
          <p:nvPr/>
        </p:nvSpPr>
        <p:spPr>
          <a:xfrm>
            <a:off x="4383024" y="1554480"/>
            <a:ext cx="3422904" cy="2011680"/>
          </a:xfrm>
          <a:prstGeom prst="roundRect">
            <a:avLst>
              <a:gd name="adj" fmla="val 3636"/>
            </a:avLst>
          </a:prstGeom>
          <a:solidFill>
            <a:srgbClr val="EFF4FD"/>
          </a:solidFill>
          <a:ln/>
        </p:spPr>
      </p:sp>
      <p:sp>
        <p:nvSpPr>
          <p:cNvPr id="7" name="Text 5"/>
          <p:cNvSpPr/>
          <p:nvPr/>
        </p:nvSpPr>
        <p:spPr>
          <a:xfrm>
            <a:off x="4629912" y="1755648"/>
            <a:ext cx="2929128" cy="548640"/>
          </a:xfrm>
          <a:prstGeom prst="rect">
            <a:avLst/>
          </a:prstGeom>
          <a:noFill/>
          <a:ln/>
        </p:spPr>
        <p:txBody>
          <a:bodyPr wrap="square" lIns="0" tIns="0" rIns="0" bIns="0" rtlCol="0" anchor="ctr"/>
          <a:lstStyle/>
          <a:p>
            <a:pPr indent="0" marL="0">
              <a:buNone/>
            </a:pPr>
            <a:r>
              <a:rPr lang="en-US" sz="1550" b="1" dirty="0">
                <a:solidFill>
                  <a:srgbClr val="1E2761"/>
                </a:solidFill>
                <a:latin typeface="Calibri" pitchFamily="34" charset="0"/>
                <a:ea typeface="Calibri" pitchFamily="34" charset="-122"/>
                <a:cs typeface="Calibri" pitchFamily="34" charset="-120"/>
              </a:rPr>
              <a:t>Fonctions pures</a:t>
            </a:r>
            <a:endParaRPr lang="en-US" sz="1550" dirty="0"/>
          </a:p>
        </p:txBody>
      </p:sp>
      <p:sp>
        <p:nvSpPr>
          <p:cNvPr id="8" name="Text 6"/>
          <p:cNvSpPr/>
          <p:nvPr/>
        </p:nvSpPr>
        <p:spPr>
          <a:xfrm>
            <a:off x="4629912" y="2331720"/>
            <a:ext cx="2929128" cy="1097280"/>
          </a:xfrm>
          <a:prstGeom prst="rect">
            <a:avLst/>
          </a:prstGeom>
          <a:noFill/>
          <a:ln/>
        </p:spPr>
        <p:txBody>
          <a:bodyPr wrap="square" lIns="0" tIns="0" rIns="0" bIns="0" rtlCol="0" anchor="ctr"/>
          <a:lstStyle/>
          <a:p>
            <a:pPr indent="0" marL="0">
              <a:buNone/>
            </a:pPr>
            <a:r>
              <a:rPr lang="en-US" sz="1200" dirty="0">
                <a:solidFill>
                  <a:srgbClr val="5A6284"/>
                </a:solidFill>
                <a:latin typeface="Calibri" pitchFamily="34" charset="0"/>
                <a:ea typeface="Calibri" pitchFamily="34" charset="-122"/>
                <a:cs typeface="Calibri" pitchFamily="34" charset="-120"/>
              </a:rPr>
              <a:t>modele, calcul, orchestration : zéro effet de bord</a:t>
            </a:r>
            <a:endParaRPr lang="en-US" sz="1200" dirty="0"/>
          </a:p>
        </p:txBody>
      </p:sp>
      <p:sp>
        <p:nvSpPr>
          <p:cNvPr id="9" name="Shape 7"/>
          <p:cNvSpPr/>
          <p:nvPr/>
        </p:nvSpPr>
        <p:spPr>
          <a:xfrm>
            <a:off x="8217408" y="1554480"/>
            <a:ext cx="3422904" cy="2011680"/>
          </a:xfrm>
          <a:prstGeom prst="roundRect">
            <a:avLst>
              <a:gd name="adj" fmla="val 3636"/>
            </a:avLst>
          </a:prstGeom>
          <a:solidFill>
            <a:srgbClr val="EFF4FD"/>
          </a:solidFill>
          <a:ln/>
        </p:spPr>
      </p:sp>
      <p:sp>
        <p:nvSpPr>
          <p:cNvPr id="10" name="Text 8"/>
          <p:cNvSpPr/>
          <p:nvPr/>
        </p:nvSpPr>
        <p:spPr>
          <a:xfrm>
            <a:off x="8464296" y="1755648"/>
            <a:ext cx="2929128" cy="548640"/>
          </a:xfrm>
          <a:prstGeom prst="rect">
            <a:avLst/>
          </a:prstGeom>
          <a:noFill/>
          <a:ln/>
        </p:spPr>
        <p:txBody>
          <a:bodyPr wrap="square" lIns="0" tIns="0" rIns="0" bIns="0" rtlCol="0" anchor="ctr"/>
          <a:lstStyle/>
          <a:p>
            <a:pPr indent="0" marL="0">
              <a:buNone/>
            </a:pPr>
            <a:r>
              <a:rPr lang="en-US" sz="1550" b="1" dirty="0">
                <a:solidFill>
                  <a:srgbClr val="1E2761"/>
                </a:solidFill>
                <a:latin typeface="Calibri" pitchFamily="34" charset="0"/>
                <a:ea typeface="Calibri" pitchFamily="34" charset="-122"/>
                <a:cs typeface="Calibri" pitchFamily="34" charset="-120"/>
              </a:rPr>
              <a:t>Ordre supérieur</a:t>
            </a:r>
            <a:endParaRPr lang="en-US" sz="1550" dirty="0"/>
          </a:p>
        </p:txBody>
      </p:sp>
      <p:sp>
        <p:nvSpPr>
          <p:cNvPr id="11" name="Text 9"/>
          <p:cNvSpPr/>
          <p:nvPr/>
        </p:nvSpPr>
        <p:spPr>
          <a:xfrm>
            <a:off x="8464296" y="2331720"/>
            <a:ext cx="2929128" cy="1097280"/>
          </a:xfrm>
          <a:prstGeom prst="rect">
            <a:avLst/>
          </a:prstGeom>
          <a:noFill/>
          <a:ln/>
        </p:spPr>
        <p:txBody>
          <a:bodyPr wrap="square" lIns="0" tIns="0" rIns="0" bIns="0" rtlCol="0" anchor="ctr"/>
          <a:lstStyle/>
          <a:p>
            <a:pPr indent="0" marL="0">
              <a:buNone/>
            </a:pPr>
            <a:r>
              <a:rPr lang="en-US" sz="1200" dirty="0">
                <a:solidFill>
                  <a:srgbClr val="5A6284"/>
                </a:solidFill>
                <a:latin typeface="Calibri" pitchFamily="34" charset="0"/>
                <a:ea typeface="Calibri" pitchFamily="34" charset="-122"/>
                <a:cs typeface="Calibri" pitchFamily="34" charset="-120"/>
              </a:rPr>
              <a:t>map, filter, flatMap, sortBy, groupMapReduce, partitionMap — aucun var ni while</a:t>
            </a:r>
            <a:endParaRPr lang="en-US" sz="1200" dirty="0"/>
          </a:p>
        </p:txBody>
      </p:sp>
      <p:sp>
        <p:nvSpPr>
          <p:cNvPr id="12" name="Shape 10"/>
          <p:cNvSpPr/>
          <p:nvPr/>
        </p:nvSpPr>
        <p:spPr>
          <a:xfrm>
            <a:off x="548640" y="3977640"/>
            <a:ext cx="3422904" cy="2011680"/>
          </a:xfrm>
          <a:prstGeom prst="roundRect">
            <a:avLst>
              <a:gd name="adj" fmla="val 3636"/>
            </a:avLst>
          </a:prstGeom>
          <a:solidFill>
            <a:srgbClr val="EFF4FD"/>
          </a:solidFill>
          <a:ln/>
        </p:spPr>
      </p:sp>
      <p:sp>
        <p:nvSpPr>
          <p:cNvPr id="13" name="Text 11"/>
          <p:cNvSpPr/>
          <p:nvPr/>
        </p:nvSpPr>
        <p:spPr>
          <a:xfrm>
            <a:off x="795528" y="4178808"/>
            <a:ext cx="2929128" cy="548640"/>
          </a:xfrm>
          <a:prstGeom prst="rect">
            <a:avLst/>
          </a:prstGeom>
          <a:noFill/>
          <a:ln/>
        </p:spPr>
        <p:txBody>
          <a:bodyPr wrap="square" lIns="0" tIns="0" rIns="0" bIns="0" rtlCol="0" anchor="ctr"/>
          <a:lstStyle/>
          <a:p>
            <a:pPr indent="0" marL="0">
              <a:buNone/>
            </a:pPr>
            <a:r>
              <a:rPr lang="en-US" sz="1550" b="1" dirty="0">
                <a:solidFill>
                  <a:srgbClr val="1E2761"/>
                </a:solidFill>
                <a:latin typeface="Calibri" pitchFamily="34" charset="0"/>
                <a:ea typeface="Calibri" pitchFamily="34" charset="-122"/>
                <a:cs typeface="Calibri" pitchFamily="34" charset="-120"/>
              </a:rPr>
              <a:t>ADT + pattern matching</a:t>
            </a:r>
            <a:endParaRPr lang="en-US" sz="1550" dirty="0"/>
          </a:p>
        </p:txBody>
      </p:sp>
      <p:sp>
        <p:nvSpPr>
          <p:cNvPr id="14" name="Text 12"/>
          <p:cNvSpPr/>
          <p:nvPr/>
        </p:nvSpPr>
        <p:spPr>
          <a:xfrm>
            <a:off x="795528" y="4754880"/>
            <a:ext cx="2929128" cy="1097280"/>
          </a:xfrm>
          <a:prstGeom prst="rect">
            <a:avLst/>
          </a:prstGeom>
          <a:noFill/>
          <a:ln/>
        </p:spPr>
        <p:txBody>
          <a:bodyPr wrap="square" lIns="0" tIns="0" rIns="0" bIns="0" rtlCol="0" anchor="ctr"/>
          <a:lstStyle/>
          <a:p>
            <a:pPr indent="0" marL="0">
              <a:buNone/>
            </a:pPr>
            <a:r>
              <a:rPr lang="en-US" sz="1200" dirty="0">
                <a:solidFill>
                  <a:srgbClr val="5A6284"/>
                </a:solidFill>
                <a:latin typeface="Calibri" pitchFamily="34" charset="0"/>
                <a:ea typeface="Calibri" pitchFamily="34" charset="-122"/>
                <a:cs typeface="Calibri" pitchFamily="34" charset="-120"/>
              </a:rPr>
              <a:t>enum Note(valeur) : une note sans valeur est irreprésentable</a:t>
            </a:r>
            <a:endParaRPr lang="en-US" sz="1200" dirty="0"/>
          </a:p>
        </p:txBody>
      </p:sp>
      <p:sp>
        <p:nvSpPr>
          <p:cNvPr id="15" name="Shape 13"/>
          <p:cNvSpPr/>
          <p:nvPr/>
        </p:nvSpPr>
        <p:spPr>
          <a:xfrm>
            <a:off x="4383024" y="3977640"/>
            <a:ext cx="3422904" cy="2011680"/>
          </a:xfrm>
          <a:prstGeom prst="roundRect">
            <a:avLst>
              <a:gd name="adj" fmla="val 3636"/>
            </a:avLst>
          </a:prstGeom>
          <a:solidFill>
            <a:srgbClr val="EFF4FD"/>
          </a:solidFill>
          <a:ln/>
        </p:spPr>
      </p:sp>
      <p:sp>
        <p:nvSpPr>
          <p:cNvPr id="16" name="Text 14"/>
          <p:cNvSpPr/>
          <p:nvPr/>
        </p:nvSpPr>
        <p:spPr>
          <a:xfrm>
            <a:off x="4629912" y="4178808"/>
            <a:ext cx="2929128" cy="548640"/>
          </a:xfrm>
          <a:prstGeom prst="rect">
            <a:avLst/>
          </a:prstGeom>
          <a:noFill/>
          <a:ln/>
        </p:spPr>
        <p:txBody>
          <a:bodyPr wrap="square" lIns="0" tIns="0" rIns="0" bIns="0" rtlCol="0" anchor="ctr"/>
          <a:lstStyle/>
          <a:p>
            <a:pPr indent="0" marL="0">
              <a:buNone/>
            </a:pPr>
            <a:r>
              <a:rPr lang="en-US" sz="1550" b="1" dirty="0">
                <a:solidFill>
                  <a:srgbClr val="1E2761"/>
                </a:solidFill>
                <a:latin typeface="Calibri" pitchFamily="34" charset="0"/>
                <a:ea typeface="Calibri" pitchFamily="34" charset="-122"/>
                <a:cs typeface="Calibri" pitchFamily="34" charset="-120"/>
              </a:rPr>
              <a:t>Erreurs sans exception</a:t>
            </a:r>
            <a:endParaRPr lang="en-US" sz="1550" dirty="0"/>
          </a:p>
        </p:txBody>
      </p:sp>
      <p:sp>
        <p:nvSpPr>
          <p:cNvPr id="17" name="Text 15"/>
          <p:cNvSpPr/>
          <p:nvPr/>
        </p:nvSpPr>
        <p:spPr>
          <a:xfrm>
            <a:off x="4629912" y="4754880"/>
            <a:ext cx="2929128" cy="1097280"/>
          </a:xfrm>
          <a:prstGeom prst="rect">
            <a:avLst/>
          </a:prstGeom>
          <a:noFill/>
          <a:ln/>
        </p:spPr>
        <p:txBody>
          <a:bodyPr wrap="square" lIns="0" tIns="0" rIns="0" bIns="0" rtlCol="0" anchor="ctr"/>
          <a:lstStyle/>
          <a:p>
            <a:pPr indent="0" marL="0">
              <a:buNone/>
            </a:pPr>
            <a:r>
              <a:rPr lang="en-US" sz="1200" dirty="0">
                <a:solidFill>
                  <a:srgbClr val="5A6284"/>
                </a:solidFill>
                <a:latin typeface="Calibri" pitchFamily="34" charset="0"/>
                <a:ea typeface="Calibri" pitchFamily="34" charset="-122"/>
                <a:cs typeface="Calibri" pitchFamily="34" charset="-120"/>
              </a:rPr>
              <a:t>Option, Either, Try ; le parseur accumule TOUTES les erreurs d'une passe</a:t>
            </a:r>
            <a:endParaRPr lang="en-US" sz="1200" dirty="0"/>
          </a:p>
        </p:txBody>
      </p:sp>
      <p:sp>
        <p:nvSpPr>
          <p:cNvPr id="18" name="Shape 16"/>
          <p:cNvSpPr/>
          <p:nvPr/>
        </p:nvSpPr>
        <p:spPr>
          <a:xfrm>
            <a:off x="8217408" y="3977640"/>
            <a:ext cx="3422904" cy="2011680"/>
          </a:xfrm>
          <a:prstGeom prst="roundRect">
            <a:avLst>
              <a:gd name="adj" fmla="val 3636"/>
            </a:avLst>
          </a:prstGeom>
          <a:solidFill>
            <a:srgbClr val="EFF4FD"/>
          </a:solidFill>
          <a:ln/>
        </p:spPr>
      </p:sp>
      <p:sp>
        <p:nvSpPr>
          <p:cNvPr id="19" name="Text 17"/>
          <p:cNvSpPr/>
          <p:nvPr/>
        </p:nvSpPr>
        <p:spPr>
          <a:xfrm>
            <a:off x="8464296" y="4178808"/>
            <a:ext cx="2929128" cy="548640"/>
          </a:xfrm>
          <a:prstGeom prst="rect">
            <a:avLst/>
          </a:prstGeom>
          <a:noFill/>
          <a:ln/>
        </p:spPr>
        <p:txBody>
          <a:bodyPr wrap="square" lIns="0" tIns="0" rIns="0" bIns="0" rtlCol="0" anchor="ctr"/>
          <a:lstStyle/>
          <a:p>
            <a:pPr indent="0" marL="0">
              <a:buNone/>
            </a:pPr>
            <a:r>
              <a:rPr lang="en-US" sz="1550" b="1" dirty="0">
                <a:solidFill>
                  <a:srgbClr val="1E2761"/>
                </a:solidFill>
                <a:latin typeface="Calibri" pitchFamily="34" charset="0"/>
                <a:ea typeface="Calibri" pitchFamily="34" charset="-122"/>
                <a:cs typeface="Calibri" pitchFamily="34" charset="-120"/>
              </a:rPr>
              <a:t>Cœur pur / bords impurs</a:t>
            </a:r>
            <a:endParaRPr lang="en-US" sz="1550" dirty="0"/>
          </a:p>
        </p:txBody>
      </p:sp>
      <p:sp>
        <p:nvSpPr>
          <p:cNvPr id="20" name="Text 18"/>
          <p:cNvSpPr/>
          <p:nvPr/>
        </p:nvSpPr>
        <p:spPr>
          <a:xfrm>
            <a:off x="8464296" y="4754880"/>
            <a:ext cx="2929128" cy="1097280"/>
          </a:xfrm>
          <a:prstGeom prst="rect">
            <a:avLst/>
          </a:prstGeom>
          <a:noFill/>
          <a:ln/>
        </p:spPr>
        <p:txBody>
          <a:bodyPr wrap="square" lIns="0" tIns="0" rIns="0" bIns="0" rtlCol="0" anchor="ctr"/>
          <a:lstStyle/>
          <a:p>
            <a:pPr indent="0" marL="0">
              <a:buNone/>
            </a:pPr>
            <a:r>
              <a:rPr lang="en-US" sz="1200" dirty="0">
                <a:solidFill>
                  <a:srgbClr val="5A6284"/>
                </a:solidFill>
                <a:latin typeface="Calibri" pitchFamily="34" charset="0"/>
                <a:ea typeface="Calibri" pitchFamily="34" charset="-122"/>
                <a:cs typeface="Calibri" pitchFamily="34" charset="-120"/>
              </a:rPr>
              <a:t>les I/O tiennent dans deux fichiers de la couche io</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Résultats sur les données TechMarket</a:t>
            </a:r>
            <a:endParaRPr lang="en-US" sz="3200" dirty="0"/>
          </a:p>
        </p:txBody>
      </p:sp>
      <p:sp>
        <p:nvSpPr>
          <p:cNvPr id="3" name="Shape 1"/>
          <p:cNvSpPr/>
          <p:nvPr/>
        </p:nvSpPr>
        <p:spPr>
          <a:xfrm>
            <a:off x="548640" y="1463040"/>
            <a:ext cx="7406640" cy="5029200"/>
          </a:xfrm>
          <a:prstGeom prst="roundRect">
            <a:avLst>
              <a:gd name="adj" fmla="val 1455"/>
            </a:avLst>
          </a:prstGeom>
          <a:solidFill>
            <a:srgbClr val="0F1430"/>
          </a:solidFill>
          <a:ln/>
        </p:spPr>
      </p:sp>
      <p:sp>
        <p:nvSpPr>
          <p:cNvPr id="4" name="Shape 2"/>
          <p:cNvSpPr/>
          <p:nvPr/>
        </p:nvSpPr>
        <p:spPr>
          <a:xfrm>
            <a:off x="822960" y="1691640"/>
            <a:ext cx="164592" cy="164592"/>
          </a:xfrm>
          <a:prstGeom prst="ellipse">
            <a:avLst/>
          </a:prstGeom>
          <a:solidFill>
            <a:srgbClr val="FF5F56"/>
          </a:solidFill>
          <a:ln/>
        </p:spPr>
      </p:sp>
      <p:sp>
        <p:nvSpPr>
          <p:cNvPr id="5" name="Shape 3"/>
          <p:cNvSpPr/>
          <p:nvPr/>
        </p:nvSpPr>
        <p:spPr>
          <a:xfrm>
            <a:off x="1115568" y="1691640"/>
            <a:ext cx="164592" cy="164592"/>
          </a:xfrm>
          <a:prstGeom prst="ellipse">
            <a:avLst/>
          </a:prstGeom>
          <a:solidFill>
            <a:srgbClr val="FFBD2E"/>
          </a:solidFill>
          <a:ln/>
        </p:spPr>
      </p:sp>
      <p:sp>
        <p:nvSpPr>
          <p:cNvPr id="6" name="Shape 4"/>
          <p:cNvSpPr/>
          <p:nvPr/>
        </p:nvSpPr>
        <p:spPr>
          <a:xfrm>
            <a:off x="1408176" y="1691640"/>
            <a:ext cx="164592" cy="164592"/>
          </a:xfrm>
          <a:prstGeom prst="ellipse">
            <a:avLst/>
          </a:prstGeom>
          <a:solidFill>
            <a:srgbClr val="27C93F"/>
          </a:solidFill>
          <a:ln/>
        </p:spPr>
      </p:sp>
      <p:sp>
        <p:nvSpPr>
          <p:cNvPr id="7" name="Text 5"/>
          <p:cNvSpPr/>
          <p:nvPr/>
        </p:nvSpPr>
        <p:spPr>
          <a:xfrm>
            <a:off x="868680" y="2011680"/>
            <a:ext cx="6766560" cy="4297680"/>
          </a:xfrm>
          <a:prstGeom prst="rect">
            <a:avLst/>
          </a:prstGeom>
          <a:noFill/>
          <a:ln/>
        </p:spPr>
        <p:txBody>
          <a:bodyPr wrap="square" lIns="0" tIns="0" rIns="0" bIns="0" rtlCol="0" anchor="ctr"/>
          <a:lstStyle/>
          <a:p>
            <a:pPr indent="0" marL="0">
              <a:spcAft>
                <a:spcPts val="600"/>
              </a:spcAft>
              <a:buNone/>
            </a:pPr>
            <a:r>
              <a:rPr lang="en-US" sz="1150" dirty="0">
                <a:solidFill>
                  <a:srgbClr val="7EE787"/>
                </a:solidFill>
                <a:latin typeface="Courier New" pitchFamily="34" charset="0"/>
                <a:ea typeface="Courier New" pitchFamily="34" charset="-122"/>
                <a:cs typeface="Courier New" pitchFamily="34" charset="-120"/>
              </a:rPr>
              <a:t>$ sbt run
</a:t>
            </a:r>
            <a:endParaRPr lang="en-US" sz="1150" dirty="0"/>
          </a:p>
          <a:p>
            <a:pPr indent="0" marL="0">
              <a:buNone/>
            </a:pPr>
            <a:r>
              <a:rPr lang="en-US" sz="1150" b="1" dirty="0">
                <a:solidFill>
                  <a:srgbClr val="FFFFFF"/>
                </a:solidFill>
                <a:latin typeface="Courier New" pitchFamily="34" charset="0"/>
                <a:ea typeface="Courier New" pitchFamily="34" charset="-122"/>
                <a:cs typeface="Courier New" pitchFamily="34" charset="-120"/>
              </a:rPr>
              <a:t>Utilisateur 2 — segment nouveau
</a:t>
            </a:r>
            <a:endParaRPr lang="en-US" sz="1150" dirty="0"/>
          </a:p>
          <a:p>
            <a:pPr indent="0" marL="0">
              <a:buNone/>
            </a:pPr>
            <a:r>
              <a:rPr lang="en-US" sz="1150" dirty="0">
                <a:solidFill>
                  <a:srgbClr val="CADCFC"/>
                </a:solidFill>
                <a:latin typeface="Courier New" pitchFamily="34" charset="0"/>
                <a:ea typeface="Courier New" pitchFamily="34" charset="-122"/>
                <a:cs typeface="Courier New" pitchFamily="34" charset="-120"/>
              </a:rPr>
              <a:t>  1. Laptop UltraBook 14      1099.00 EUR   score 28.00
</a:t>
            </a:r>
            <a:endParaRPr lang="en-US" sz="1150" dirty="0"/>
          </a:p>
          <a:p>
            <a:pPr indent="0" marL="0">
              <a:spcAft>
                <a:spcPts val="800"/>
              </a:spcAft>
              <a:buNone/>
            </a:pPr>
            <a:r>
              <a:rPr lang="en-US" sz="1150" dirty="0">
                <a:solidFill>
                  <a:srgbClr val="8A93BD"/>
                </a:solidFill>
                <a:latin typeface="Courier New" pitchFamily="34" charset="0"/>
                <a:ea typeface="Courier New" pitchFamily="34" charset="-122"/>
                <a:cs typeface="Courier New" pitchFamily="34" charset="-120"/>
              </a:rPr>
              <a:t>     Produit parmi les plus populaires du catalogue
</a:t>
            </a:r>
            <a:endParaRPr lang="en-US" sz="1150" dirty="0"/>
          </a:p>
          <a:p>
            <a:pPr indent="0" marL="0">
              <a:buNone/>
            </a:pPr>
            <a:r>
              <a:rPr lang="en-US" sz="1150" b="1" dirty="0">
                <a:solidFill>
                  <a:srgbClr val="FFFFFF"/>
                </a:solidFill>
                <a:latin typeface="Courier New" pitchFamily="34" charset="0"/>
                <a:ea typeface="Courier New" pitchFamily="34" charset="-122"/>
                <a:cs typeface="Courier New" pitchFamily="34" charset="-120"/>
              </a:rPr>
              <a:t>Utilisateur 1 — segment occasionnel
</a:t>
            </a:r>
            <a:endParaRPr lang="en-US" sz="1150" dirty="0"/>
          </a:p>
          <a:p>
            <a:pPr indent="0" marL="0">
              <a:buNone/>
            </a:pPr>
            <a:r>
              <a:rPr lang="en-US" sz="1150" dirty="0">
                <a:solidFill>
                  <a:srgbClr val="CADCFC"/>
                </a:solidFill>
                <a:latin typeface="Courier New" pitchFamily="34" charset="0"/>
                <a:ea typeface="Courier New" pitchFamily="34" charset="-122"/>
                <a:cs typeface="Courier New" pitchFamily="34" charset="-120"/>
              </a:rPr>
              <a:t>  1. Batterie externe 20000mAh  39.90 EUR   score 1.91
</a:t>
            </a:r>
            <a:endParaRPr lang="en-US" sz="1150" dirty="0"/>
          </a:p>
          <a:p>
            <a:pPr indent="0" marL="0">
              <a:buNone/>
            </a:pPr>
            <a:r>
              <a:rPr lang="en-US" sz="1150" dirty="0">
                <a:solidFill>
                  <a:srgbClr val="8A93BD"/>
                </a:solidFill>
                <a:latin typeface="Courier New" pitchFamily="34" charset="0"/>
                <a:ea typeface="Courier New" pitchFamily="34" charset="-122"/>
                <a:cs typeface="Courier New" pitchFamily="34" charset="-120"/>
              </a:rPr>
              <a:t>     2 utilisateur(s) au profil proche du vôtre...
</a:t>
            </a:r>
            <a:endParaRPr lang="en-US" sz="1150" dirty="0"/>
          </a:p>
          <a:p>
            <a:pPr indent="0" marL="0">
              <a:buNone/>
            </a:pPr>
            <a:r>
              <a:rPr lang="en-US" sz="1150" dirty="0">
                <a:solidFill>
                  <a:srgbClr val="CADCFC"/>
                </a:solidFill>
                <a:latin typeface="Courier New" pitchFamily="34" charset="0"/>
                <a:ea typeface="Courier New" pitchFamily="34" charset="-122"/>
                <a:cs typeface="Courier New" pitchFamily="34" charset="-120"/>
              </a:rPr>
              <a:t>  2. Webcam StreamCam HD        79.00 EUR   score 1.37
</a:t>
            </a:r>
            <a:endParaRPr lang="en-US" sz="1150" dirty="0"/>
          </a:p>
          <a:p>
            <a:pPr indent="0" marL="0">
              <a:buNone/>
            </a:pPr>
            <a:r>
              <a:rPr lang="en-US" sz="1150" dirty="0">
                <a:solidFill>
                  <a:srgbClr val="8A93BD"/>
                </a:solidFill>
                <a:latin typeface="Courier New" pitchFamily="34" charset="0"/>
                <a:ea typeface="Courier New" pitchFamily="34" charset="-122"/>
                <a:cs typeface="Courier New" pitchFamily="34" charset="-120"/>
              </a:rPr>
              <a:t>     1 utilisateur(s) au profil proche du vôtre...
</a:t>
            </a:r>
            <a:endParaRPr lang="en-US" sz="1150" dirty="0"/>
          </a:p>
          <a:p>
            <a:pPr indent="0" marL="0">
              <a:spcAft>
                <a:spcPts val="800"/>
              </a:spcAft>
              <a:buNone/>
            </a:pPr>
            <a:r>
              <a:rPr lang="en-US" sz="1150" dirty="0">
                <a:solidFill>
                  <a:srgbClr val="CADCFC"/>
                </a:solidFill>
                <a:latin typeface="Courier New" pitchFamily="34" charset="0"/>
                <a:ea typeface="Courier New" pitchFamily="34" charset="-122"/>
                <a:cs typeface="Courier New" pitchFamily="34" charset="-120"/>
              </a:rPr>
              <a:t>  3. Chargeur rapide USB-C 65W  29.90 EUR   score 0.86
</a:t>
            </a:r>
            <a:endParaRPr lang="en-US" sz="1150" dirty="0"/>
          </a:p>
          <a:p>
            <a:pPr indent="0" marL="0">
              <a:buNone/>
            </a:pPr>
            <a:r>
              <a:rPr lang="en-US" sz="1150" dirty="0">
                <a:solidFill>
                  <a:srgbClr val="CADCFC"/>
                </a:solidFill>
                <a:latin typeface="Courier New" pitchFamily="34" charset="0"/>
                <a:ea typeface="Courier New" pitchFamily="34" charset="-122"/>
                <a:cs typeface="Courier New" pitchFamily="34" charset="-120"/>
              </a:rPr>
              <a:t>Utilisateur 4 — segment fidèle : top-3 personnalisé, justifié</a:t>
            </a:r>
            <a:endParaRPr lang="en-US" sz="1150" dirty="0"/>
          </a:p>
        </p:txBody>
      </p:sp>
      <p:sp>
        <p:nvSpPr>
          <p:cNvPr id="8" name="Shape 6"/>
          <p:cNvSpPr/>
          <p:nvPr/>
        </p:nvSpPr>
        <p:spPr>
          <a:xfrm>
            <a:off x="8412480" y="1463040"/>
            <a:ext cx="3227832" cy="2286000"/>
          </a:xfrm>
          <a:prstGeom prst="roundRect">
            <a:avLst>
              <a:gd name="adj" fmla="val 3200"/>
            </a:avLst>
          </a:prstGeom>
          <a:solidFill>
            <a:srgbClr val="EFF4FD"/>
          </a:solidFill>
          <a:ln/>
        </p:spPr>
      </p:sp>
      <p:sp>
        <p:nvSpPr>
          <p:cNvPr id="9" name="Text 7"/>
          <p:cNvSpPr/>
          <p:nvPr/>
        </p:nvSpPr>
        <p:spPr>
          <a:xfrm>
            <a:off x="8412480" y="1691640"/>
            <a:ext cx="3227832" cy="1005840"/>
          </a:xfrm>
          <a:prstGeom prst="rect">
            <a:avLst/>
          </a:prstGeom>
          <a:noFill/>
          <a:ln/>
        </p:spPr>
        <p:txBody>
          <a:bodyPr wrap="square" lIns="0" tIns="0" rIns="0" bIns="0" rtlCol="0" anchor="ctr"/>
          <a:lstStyle/>
          <a:p>
            <a:pPr algn="ctr" indent="0" marL="0">
              <a:buNone/>
            </a:pPr>
            <a:r>
              <a:rPr lang="en-US" sz="6000" b="1" dirty="0">
                <a:solidFill>
                  <a:srgbClr val="F96167"/>
                </a:solidFill>
                <a:latin typeface="Cambria" pitchFamily="34" charset="0"/>
                <a:ea typeface="Cambria" pitchFamily="34" charset="-122"/>
                <a:cs typeface="Cambria" pitchFamily="34" charset="-120"/>
              </a:rPr>
              <a:t>46</a:t>
            </a:r>
            <a:endParaRPr lang="en-US" sz="6000" dirty="0"/>
          </a:p>
        </p:txBody>
      </p:sp>
      <p:sp>
        <p:nvSpPr>
          <p:cNvPr id="10" name="Text 8"/>
          <p:cNvSpPr/>
          <p:nvPr/>
        </p:nvSpPr>
        <p:spPr>
          <a:xfrm>
            <a:off x="8595360" y="2743200"/>
            <a:ext cx="2862072" cy="457200"/>
          </a:xfrm>
          <a:prstGeom prst="rect">
            <a:avLst/>
          </a:prstGeom>
          <a:noFill/>
          <a:ln/>
        </p:spPr>
        <p:txBody>
          <a:bodyPr wrap="square" lIns="0" tIns="0" rIns="0" bIns="0" rtlCol="0" anchor="ctr"/>
          <a:lstStyle/>
          <a:p>
            <a:pPr algn="ctr" indent="0" marL="0">
              <a:buNone/>
            </a:pPr>
            <a:r>
              <a:rPr lang="en-US" sz="1350" dirty="0">
                <a:solidFill>
                  <a:srgbClr val="1E2761"/>
                </a:solidFill>
                <a:latin typeface="Calibri" pitchFamily="34" charset="0"/>
                <a:ea typeface="Calibri" pitchFamily="34" charset="-122"/>
                <a:cs typeface="Calibri" pitchFamily="34" charset="-120"/>
              </a:rPr>
              <a:t>tests unitaires, zéro échec</a:t>
            </a:r>
            <a:endParaRPr lang="en-US" sz="1350" dirty="0"/>
          </a:p>
        </p:txBody>
      </p:sp>
      <p:sp>
        <p:nvSpPr>
          <p:cNvPr id="11" name="Shape 9"/>
          <p:cNvSpPr/>
          <p:nvPr/>
        </p:nvSpPr>
        <p:spPr>
          <a:xfrm>
            <a:off x="8412480" y="3977640"/>
            <a:ext cx="3227832" cy="2514600"/>
          </a:xfrm>
          <a:prstGeom prst="roundRect">
            <a:avLst>
              <a:gd name="adj" fmla="val 2909"/>
            </a:avLst>
          </a:prstGeom>
          <a:solidFill>
            <a:srgbClr val="EFF4FD"/>
          </a:solidFill>
          <a:ln/>
        </p:spPr>
      </p:sp>
      <p:sp>
        <p:nvSpPr>
          <p:cNvPr id="12" name="Text 10"/>
          <p:cNvSpPr/>
          <p:nvPr/>
        </p:nvSpPr>
        <p:spPr>
          <a:xfrm>
            <a:off x="8659368" y="4206240"/>
            <a:ext cx="2734056" cy="2148840"/>
          </a:xfrm>
          <a:prstGeom prst="rect">
            <a:avLst/>
          </a:prstGeom>
          <a:noFill/>
          <a:ln/>
        </p:spPr>
        <p:txBody>
          <a:bodyPr wrap="square" lIns="0" tIns="0" rIns="0" bIns="0" rtlCol="0" anchor="ctr"/>
          <a:lstStyle/>
          <a:p>
            <a:pPr indent="0" marL="0">
              <a:spcAft>
                <a:spcPts val="600"/>
              </a:spcAft>
              <a:buNone/>
            </a:pPr>
            <a:r>
              <a:rPr lang="en-US" sz="1500" b="1" dirty="0">
                <a:solidFill>
                  <a:srgbClr val="1E2761"/>
                </a:solidFill>
                <a:latin typeface="Calibri" pitchFamily="34" charset="0"/>
                <a:ea typeface="Calibri" pitchFamily="34" charset="-122"/>
                <a:cs typeface="Calibri" pitchFamily="34" charset="-120"/>
              </a:rPr>
              <a:t>Lecture métier
</a:t>
            </a:r>
            <a:endParaRPr lang="en-US" sz="1500" dirty="0"/>
          </a:p>
          <a:p>
            <a:pPr marL="342900" indent="-342900">
              <a:spcAft>
                <a:spcPts val="600"/>
              </a:spcAft>
              <a:buSzPct val="100000"/>
              <a:buChar char="•"/>
            </a:pPr>
            <a:r>
              <a:rPr lang="en-US" sz="1250" dirty="0">
                <a:solidFill>
                  <a:srgbClr val="5A6284"/>
                </a:solidFill>
                <a:latin typeface="Calibri" pitchFamily="34" charset="0"/>
                <a:ea typeface="Calibri" pitchFamily="34" charset="-122"/>
                <a:cs typeface="Calibri" pitchFamily="34" charset="-120"/>
              </a:rPr>
              <a:t>le nouveau reçoit les valeurs sûres du catalogue</a:t>
            </a:r>
            <a:endParaRPr lang="en-US" sz="1500" dirty="0"/>
          </a:p>
          <a:p>
            <a:pPr marL="342900" indent="-342900">
              <a:spcAft>
                <a:spcPts val="600"/>
              </a:spcAft>
              <a:buSzPct val="100000"/>
              <a:buChar char="•"/>
            </a:pPr>
            <a:r>
              <a:rPr lang="en-US" sz="1250" dirty="0">
                <a:solidFill>
                  <a:srgbClr val="5A6284"/>
                </a:solidFill>
                <a:latin typeface="Calibri" pitchFamily="34" charset="0"/>
                <a:ea typeface="Calibri" pitchFamily="34" charset="-122"/>
                <a:cs typeface="Calibri" pitchFamily="34" charset="-120"/>
              </a:rPr>
              <a:t>les autres, des accessoires complémentaires portés par leurs voisins de goût</a:t>
            </a:r>
            <a:endParaRPr lang="en-US" sz="1500" dirty="0"/>
          </a:p>
          <a:p>
            <a:pPr marL="342900" indent="-342900">
              <a:buSzPct val="100000"/>
              <a:buChar char="•"/>
            </a:pPr>
            <a:r>
              <a:rPr lang="en-US" sz="1250" dirty="0">
                <a:solidFill>
                  <a:srgbClr val="5A6284"/>
                </a:solidFill>
                <a:latin typeface="Calibri" pitchFamily="34" charset="0"/>
                <a:ea typeface="Calibri" pitchFamily="34" charset="-122"/>
                <a:cs typeface="Calibri" pitchFamily="34" charset="-120"/>
              </a:rPr>
              <a:t>chaque ligne est justifiée en français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Un test vert ne prouve rien : la revue par mutation</a:t>
            </a:r>
            <a:endParaRPr lang="en-US" sz="3200" dirty="0"/>
          </a:p>
        </p:txBody>
      </p:sp>
      <p:sp>
        <p:nvSpPr>
          <p:cNvPr id="3" name="Shape 1"/>
          <p:cNvSpPr/>
          <p:nvPr/>
        </p:nvSpPr>
        <p:spPr>
          <a:xfrm>
            <a:off x="548640" y="1463040"/>
            <a:ext cx="11091672" cy="1737360"/>
          </a:xfrm>
          <a:prstGeom prst="roundRect">
            <a:avLst>
              <a:gd name="adj" fmla="val 4211"/>
            </a:avLst>
          </a:prstGeom>
          <a:solidFill>
            <a:srgbClr val="EFF4FD"/>
          </a:solidFill>
          <a:ln/>
        </p:spPr>
      </p:sp>
      <p:sp>
        <p:nvSpPr>
          <p:cNvPr id="4" name="Text 2"/>
          <p:cNvSpPr/>
          <p:nvPr/>
        </p:nvSpPr>
        <p:spPr>
          <a:xfrm>
            <a:off x="868680" y="1691640"/>
            <a:ext cx="10451592" cy="132588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Méthode : </a:t>
            </a:r>
            <a:pPr indent="0" marL="0">
              <a:buNone/>
            </a:pPr>
            <a:r>
              <a:rPr lang="en-US" sz="1450" dirty="0">
                <a:solidFill>
                  <a:srgbClr val="5A6284"/>
                </a:solidFill>
                <a:latin typeface="Calibri" pitchFamily="34" charset="0"/>
                <a:ea typeface="Calibri" pitchFamily="34" charset="-122"/>
                <a:cs typeface="Calibri" pitchFamily="34" charset="-120"/>
              </a:rPr>
              <a:t>casser volontairement le code et vérifier que la suite rougit. Trois mutations majeures survivaient à la première suite : supprimer la gestion du segment, supprimer la pondération par similarité, dupliquer les contributions.</a:t>
            </a:r>
            <a:endParaRPr lang="en-US" sz="1450" dirty="0"/>
          </a:p>
        </p:txBody>
      </p:sp>
      <p:sp>
        <p:nvSpPr>
          <p:cNvPr id="5" name="Shape 3"/>
          <p:cNvSpPr/>
          <p:nvPr/>
        </p:nvSpPr>
        <p:spPr>
          <a:xfrm>
            <a:off x="548640" y="3520440"/>
            <a:ext cx="3422904" cy="2743200"/>
          </a:xfrm>
          <a:prstGeom prst="roundRect">
            <a:avLst>
              <a:gd name="adj" fmla="val 2667"/>
            </a:avLst>
          </a:prstGeom>
          <a:solidFill>
            <a:srgbClr val="FDECEC"/>
          </a:solidFill>
          <a:ln/>
        </p:spPr>
      </p:sp>
      <p:sp>
        <p:nvSpPr>
          <p:cNvPr id="6" name="Text 4"/>
          <p:cNvSpPr/>
          <p:nvPr/>
        </p:nvSpPr>
        <p:spPr>
          <a:xfrm>
            <a:off x="795528" y="3749040"/>
            <a:ext cx="2929128" cy="457200"/>
          </a:xfrm>
          <a:prstGeom prst="rect">
            <a:avLst/>
          </a:prstGeom>
          <a:noFill/>
          <a:ln/>
        </p:spPr>
        <p:txBody>
          <a:bodyPr wrap="square" lIns="0" tIns="0" rIns="0" bIns="0" rtlCol="0" anchor="ctr"/>
          <a:lstStyle/>
          <a:p>
            <a:pPr indent="0" marL="0">
              <a:buNone/>
            </a:pPr>
            <a:r>
              <a:rPr lang="en-US" sz="1550" b="1" dirty="0">
                <a:solidFill>
                  <a:srgbClr val="F96167"/>
                </a:solidFill>
                <a:latin typeface="Calibri" pitchFamily="34" charset="0"/>
                <a:ea typeface="Calibri" pitchFamily="34" charset="-122"/>
                <a:cs typeface="Calibri" pitchFamily="34" charset="-120"/>
              </a:rPr>
              <a:t>Le bug trouvé</a:t>
            </a:r>
            <a:endParaRPr lang="en-US" sz="1550" dirty="0"/>
          </a:p>
        </p:txBody>
      </p:sp>
      <p:sp>
        <p:nvSpPr>
          <p:cNvPr id="7" name="Text 5"/>
          <p:cNvSpPr/>
          <p:nvPr/>
        </p:nvSpPr>
        <p:spPr>
          <a:xfrm>
            <a:off x="795528" y="4297680"/>
            <a:ext cx="2929128" cy="1828800"/>
          </a:xfrm>
          <a:prstGeom prst="rect">
            <a:avLst/>
          </a:prstGeom>
          <a:noFill/>
          <a:ln/>
        </p:spPr>
        <p:txBody>
          <a:bodyPr wrap="square" lIns="0" tIns="0" rIns="0" bIns="0" rtlCol="0" anchor="ctr"/>
          <a:lstStyle/>
          <a:p>
            <a:pPr indent="0" marL="0">
              <a:buNone/>
            </a:pPr>
            <a:r>
              <a:rPr lang="en-US" sz="1250" dirty="0">
                <a:solidFill>
                  <a:srgbClr val="5A6284"/>
                </a:solidFill>
                <a:latin typeface="Calibri" pitchFamily="34" charset="0"/>
                <a:ea typeface="Calibri" pitchFamily="34" charset="-122"/>
                <a:cs typeface="Calibri" pitchFamily="34" charset="-120"/>
              </a:rPr>
              <a:t>un voisin qui a acheté PUIS noté le même produit comptait deux fois : sim × (5 + note) au lieu de sim × max</a:t>
            </a:r>
            <a:endParaRPr lang="en-US" sz="1250" dirty="0"/>
          </a:p>
        </p:txBody>
      </p:sp>
      <p:sp>
        <p:nvSpPr>
          <p:cNvPr id="8" name="Shape 6"/>
          <p:cNvSpPr/>
          <p:nvPr/>
        </p:nvSpPr>
        <p:spPr>
          <a:xfrm>
            <a:off x="4383024" y="3520440"/>
            <a:ext cx="3422904" cy="2743200"/>
          </a:xfrm>
          <a:prstGeom prst="roundRect">
            <a:avLst>
              <a:gd name="adj" fmla="val 2667"/>
            </a:avLst>
          </a:prstGeom>
          <a:solidFill>
            <a:srgbClr val="FDECEC"/>
          </a:solidFill>
          <a:ln/>
        </p:spPr>
      </p:sp>
      <p:sp>
        <p:nvSpPr>
          <p:cNvPr id="9" name="Text 7"/>
          <p:cNvSpPr/>
          <p:nvPr/>
        </p:nvSpPr>
        <p:spPr>
          <a:xfrm>
            <a:off x="4629912" y="3749040"/>
            <a:ext cx="2929128" cy="457200"/>
          </a:xfrm>
          <a:prstGeom prst="rect">
            <a:avLst/>
          </a:prstGeom>
          <a:noFill/>
          <a:ln/>
        </p:spPr>
        <p:txBody>
          <a:bodyPr wrap="square" lIns="0" tIns="0" rIns="0" bIns="0" rtlCol="0" anchor="ctr"/>
          <a:lstStyle/>
          <a:p>
            <a:pPr indent="0" marL="0">
              <a:buNone/>
            </a:pPr>
            <a:r>
              <a:rPr lang="en-US" sz="1550" b="1" dirty="0">
                <a:solidFill>
                  <a:srgbClr val="F96167"/>
                </a:solidFill>
                <a:latin typeface="Calibri" pitchFamily="34" charset="0"/>
                <a:ea typeface="Calibri" pitchFamily="34" charset="-122"/>
                <a:cs typeface="Calibri" pitchFamily="34" charset="-120"/>
              </a:rPr>
              <a:t>Son impact réel</a:t>
            </a:r>
            <a:endParaRPr lang="en-US" sz="1550" dirty="0"/>
          </a:p>
        </p:txBody>
      </p:sp>
      <p:sp>
        <p:nvSpPr>
          <p:cNvPr id="10" name="Text 8"/>
          <p:cNvSpPr/>
          <p:nvPr/>
        </p:nvSpPr>
        <p:spPr>
          <a:xfrm>
            <a:off x="4629912" y="4297680"/>
            <a:ext cx="2929128" cy="1828800"/>
          </a:xfrm>
          <a:prstGeom prst="rect">
            <a:avLst/>
          </a:prstGeom>
          <a:noFill/>
          <a:ln/>
        </p:spPr>
        <p:txBody>
          <a:bodyPr wrap="square" lIns="0" tIns="0" rIns="0" bIns="0" rtlCol="0" anchor="ctr"/>
          <a:lstStyle/>
          <a:p>
            <a:pPr indent="0" marL="0">
              <a:buNone/>
            </a:pPr>
            <a:r>
              <a:rPr lang="en-US" sz="1250" dirty="0">
                <a:solidFill>
                  <a:srgbClr val="5A6284"/>
                </a:solidFill>
                <a:latin typeface="Calibri" pitchFamily="34" charset="0"/>
                <a:ea typeface="Calibri" pitchFamily="34" charset="-122"/>
                <a:cs typeface="Calibri" pitchFamily="34" charset="-120"/>
              </a:rPr>
              <a:t>l'ordre du top-3 changeait pour 6 des 13 utilisateurs personnalisables du jeu de données</a:t>
            </a:r>
            <a:endParaRPr lang="en-US" sz="1250" dirty="0"/>
          </a:p>
        </p:txBody>
      </p:sp>
      <p:sp>
        <p:nvSpPr>
          <p:cNvPr id="11" name="Shape 9"/>
          <p:cNvSpPr/>
          <p:nvPr/>
        </p:nvSpPr>
        <p:spPr>
          <a:xfrm>
            <a:off x="8217408" y="3520440"/>
            <a:ext cx="3422904" cy="2743200"/>
          </a:xfrm>
          <a:prstGeom prst="roundRect">
            <a:avLst>
              <a:gd name="adj" fmla="val 2667"/>
            </a:avLst>
          </a:prstGeom>
          <a:solidFill>
            <a:srgbClr val="EFF4FD"/>
          </a:solidFill>
          <a:ln/>
        </p:spPr>
      </p:sp>
      <p:sp>
        <p:nvSpPr>
          <p:cNvPr id="12" name="Text 10"/>
          <p:cNvSpPr/>
          <p:nvPr/>
        </p:nvSpPr>
        <p:spPr>
          <a:xfrm>
            <a:off x="8464296" y="3749040"/>
            <a:ext cx="2929128" cy="457200"/>
          </a:xfrm>
          <a:prstGeom prst="rect">
            <a:avLst/>
          </a:prstGeom>
          <a:noFill/>
          <a:ln/>
        </p:spPr>
        <p:txBody>
          <a:bodyPr wrap="square" lIns="0" tIns="0" rIns="0" bIns="0" rtlCol="0" anchor="ctr"/>
          <a:lstStyle/>
          <a:p>
            <a:pPr indent="0" marL="0">
              <a:buNone/>
            </a:pPr>
            <a:r>
              <a:rPr lang="en-US" sz="1550" b="1" dirty="0">
                <a:solidFill>
                  <a:srgbClr val="1E2761"/>
                </a:solidFill>
                <a:latin typeface="Calibri" pitchFamily="34" charset="0"/>
                <a:ea typeface="Calibri" pitchFamily="34" charset="-122"/>
                <a:cs typeface="Calibri" pitchFamily="34" charset="-120"/>
              </a:rPr>
              <a:t>Le verrou posé</a:t>
            </a:r>
            <a:endParaRPr lang="en-US" sz="1550" dirty="0"/>
          </a:p>
        </p:txBody>
      </p:sp>
      <p:sp>
        <p:nvSpPr>
          <p:cNvPr id="13" name="Text 11"/>
          <p:cNvSpPr/>
          <p:nvPr/>
        </p:nvSpPr>
        <p:spPr>
          <a:xfrm>
            <a:off x="8464296" y="4297680"/>
            <a:ext cx="2929128" cy="1828800"/>
          </a:xfrm>
          <a:prstGeom prst="rect">
            <a:avLst/>
          </a:prstGeom>
          <a:noFill/>
          <a:ln/>
        </p:spPr>
        <p:txBody>
          <a:bodyPr wrap="square" lIns="0" tIns="0" rIns="0" bIns="0" rtlCol="0" anchor="ctr"/>
          <a:lstStyle/>
          <a:p>
            <a:pPr indent="0" marL="0">
              <a:buNone/>
            </a:pPr>
            <a:r>
              <a:rPr lang="en-US" sz="1250" dirty="0">
                <a:solidFill>
                  <a:srgbClr val="5A6284"/>
                </a:solidFill>
                <a:latin typeface="Calibri" pitchFamily="34" charset="0"/>
                <a:ea typeface="Calibri" pitchFamily="34" charset="-122"/>
                <a:cs typeface="Calibri" pitchFamily="34" charset="-120"/>
              </a:rPr>
              <a:t>règle « signal le plus fort » factorisée (poidsParItem), score exact 5/racine(2) asserté à 1e-9 près, fixture de contraste David</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Qui a fait quoi</a:t>
            </a:r>
            <a:endParaRPr lang="en-US" sz="3200" dirty="0"/>
          </a:p>
        </p:txBody>
      </p:sp>
      <p:sp>
        <p:nvSpPr>
          <p:cNvPr id="3" name="Shape 1"/>
          <p:cNvSpPr/>
          <p:nvPr/>
        </p:nvSpPr>
        <p:spPr>
          <a:xfrm>
            <a:off x="548640" y="1554480"/>
            <a:ext cx="2498598" cy="3108960"/>
          </a:xfrm>
          <a:prstGeom prst="roundRect">
            <a:avLst>
              <a:gd name="adj" fmla="val 2928"/>
            </a:avLst>
          </a:prstGeom>
          <a:solidFill>
            <a:srgbClr val="EFF4FD"/>
          </a:solidFill>
          <a:ln/>
        </p:spPr>
      </p:sp>
      <p:sp>
        <p:nvSpPr>
          <p:cNvPr id="4" name="Shape 2"/>
          <p:cNvSpPr/>
          <p:nvPr/>
        </p:nvSpPr>
        <p:spPr>
          <a:xfrm>
            <a:off x="795528" y="1810512"/>
            <a:ext cx="420624" cy="420624"/>
          </a:xfrm>
          <a:prstGeom prst="ellipse">
            <a:avLst/>
          </a:prstGeom>
          <a:solidFill>
            <a:srgbClr val="1E2761"/>
          </a:solidFill>
          <a:ln/>
        </p:spPr>
      </p:sp>
      <p:sp>
        <p:nvSpPr>
          <p:cNvPr id="5" name="Text 3"/>
          <p:cNvSpPr/>
          <p:nvPr/>
        </p:nvSpPr>
        <p:spPr>
          <a:xfrm>
            <a:off x="795528" y="1796796"/>
            <a:ext cx="420624" cy="420624"/>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6" name="Text 4"/>
          <p:cNvSpPr/>
          <p:nvPr/>
        </p:nvSpPr>
        <p:spPr>
          <a:xfrm>
            <a:off x="795528" y="2377440"/>
            <a:ext cx="2004822" cy="45720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Brad</a:t>
            </a:r>
            <a:endParaRPr lang="en-US" sz="1500" dirty="0"/>
          </a:p>
        </p:txBody>
      </p:sp>
      <p:sp>
        <p:nvSpPr>
          <p:cNvPr id="7" name="Text 5"/>
          <p:cNvSpPr/>
          <p:nvPr/>
        </p:nvSpPr>
        <p:spPr>
          <a:xfrm>
            <a:off x="795528" y="2880360"/>
            <a:ext cx="2004822" cy="1600200"/>
          </a:xfrm>
          <a:prstGeom prst="rect">
            <a:avLst/>
          </a:prstGeom>
          <a:noFill/>
          <a:ln/>
        </p:spPr>
        <p:txBody>
          <a:bodyPr wrap="square" lIns="0" tIns="0" rIns="0" bIns="0" rtlCol="0" anchor="ctr"/>
          <a:lstStyle/>
          <a:p>
            <a:pPr indent="0" marL="0">
              <a:buNone/>
            </a:pPr>
            <a:r>
              <a:rPr lang="en-US" sz="1200" dirty="0">
                <a:solidFill>
                  <a:srgbClr val="5A6284"/>
                </a:solidFill>
                <a:latin typeface="Calibri" pitchFamily="34" charset="0"/>
                <a:ea typeface="Calibri" pitchFamily="34" charset="-122"/>
                <a:cs typeface="Calibri" pitchFamily="34" charset="-120"/>
              </a:rPr>
              <a:t>Séance 1 — structure sbt, jeu de données, modèle du domaine, README de cadrage.</a:t>
            </a:r>
            <a:endParaRPr lang="en-US" sz="1200" dirty="0"/>
          </a:p>
        </p:txBody>
      </p:sp>
      <p:sp>
        <p:nvSpPr>
          <p:cNvPr id="8" name="Shape 6"/>
          <p:cNvSpPr/>
          <p:nvPr/>
        </p:nvSpPr>
        <p:spPr>
          <a:xfrm>
            <a:off x="3412998" y="1554480"/>
            <a:ext cx="2498598" cy="3108960"/>
          </a:xfrm>
          <a:prstGeom prst="roundRect">
            <a:avLst>
              <a:gd name="adj" fmla="val 2928"/>
            </a:avLst>
          </a:prstGeom>
          <a:solidFill>
            <a:srgbClr val="EFF4FD"/>
          </a:solidFill>
          <a:ln/>
        </p:spPr>
      </p:sp>
      <p:sp>
        <p:nvSpPr>
          <p:cNvPr id="9" name="Shape 7"/>
          <p:cNvSpPr/>
          <p:nvPr/>
        </p:nvSpPr>
        <p:spPr>
          <a:xfrm>
            <a:off x="3659886" y="1810512"/>
            <a:ext cx="420624" cy="420624"/>
          </a:xfrm>
          <a:prstGeom prst="ellipse">
            <a:avLst/>
          </a:prstGeom>
          <a:solidFill>
            <a:srgbClr val="1E2761"/>
          </a:solidFill>
          <a:ln/>
        </p:spPr>
      </p:sp>
      <p:sp>
        <p:nvSpPr>
          <p:cNvPr id="10" name="Text 8"/>
          <p:cNvSpPr/>
          <p:nvPr/>
        </p:nvSpPr>
        <p:spPr>
          <a:xfrm>
            <a:off x="3659886" y="1796796"/>
            <a:ext cx="420624" cy="420624"/>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1" name="Text 9"/>
          <p:cNvSpPr/>
          <p:nvPr/>
        </p:nvSpPr>
        <p:spPr>
          <a:xfrm>
            <a:off x="3659886" y="2377440"/>
            <a:ext cx="2004822" cy="45720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Robin</a:t>
            </a:r>
            <a:endParaRPr lang="en-US" sz="1500" dirty="0"/>
          </a:p>
        </p:txBody>
      </p:sp>
      <p:sp>
        <p:nvSpPr>
          <p:cNvPr id="12" name="Text 10"/>
          <p:cNvSpPr/>
          <p:nvPr/>
        </p:nvSpPr>
        <p:spPr>
          <a:xfrm>
            <a:off x="3659886" y="2880360"/>
            <a:ext cx="2004822" cy="1600200"/>
          </a:xfrm>
          <a:prstGeom prst="rect">
            <a:avLst/>
          </a:prstGeom>
          <a:noFill/>
          <a:ln/>
        </p:spPr>
        <p:txBody>
          <a:bodyPr wrap="square" lIns="0" tIns="0" rIns="0" bIns="0" rtlCol="0" anchor="ctr"/>
          <a:lstStyle/>
          <a:p>
            <a:pPr indent="0" marL="0">
              <a:buNone/>
            </a:pPr>
            <a:r>
              <a:rPr lang="en-US" sz="1200" dirty="0">
                <a:solidFill>
                  <a:srgbClr val="5A6284"/>
                </a:solidFill>
                <a:latin typeface="Calibri" pitchFamily="34" charset="0"/>
                <a:ea typeface="Calibri" pitchFamily="34" charset="-122"/>
                <a:cs typeface="Calibri" pitchFamily="34" charset="-120"/>
              </a:rPr>
              <a:t>Séance 2 — le cœur fonctionnel : similarité cosinus, poids et profils, chargement des CSV, et leurs tests.</a:t>
            </a:r>
            <a:endParaRPr lang="en-US" sz="1200" dirty="0"/>
          </a:p>
        </p:txBody>
      </p:sp>
      <p:sp>
        <p:nvSpPr>
          <p:cNvPr id="13" name="Shape 11"/>
          <p:cNvSpPr/>
          <p:nvPr/>
        </p:nvSpPr>
        <p:spPr>
          <a:xfrm>
            <a:off x="6277356" y="1554480"/>
            <a:ext cx="2498598" cy="3108960"/>
          </a:xfrm>
          <a:prstGeom prst="roundRect">
            <a:avLst>
              <a:gd name="adj" fmla="val 2928"/>
            </a:avLst>
          </a:prstGeom>
          <a:solidFill>
            <a:srgbClr val="EFF4FD"/>
          </a:solidFill>
          <a:ln/>
        </p:spPr>
      </p:sp>
      <p:sp>
        <p:nvSpPr>
          <p:cNvPr id="14" name="Shape 12"/>
          <p:cNvSpPr/>
          <p:nvPr/>
        </p:nvSpPr>
        <p:spPr>
          <a:xfrm>
            <a:off x="6524244" y="1810512"/>
            <a:ext cx="420624" cy="420624"/>
          </a:xfrm>
          <a:prstGeom prst="ellipse">
            <a:avLst/>
          </a:prstGeom>
          <a:solidFill>
            <a:srgbClr val="F96167"/>
          </a:solidFill>
          <a:ln/>
        </p:spPr>
      </p:sp>
      <p:sp>
        <p:nvSpPr>
          <p:cNvPr id="15" name="Text 13"/>
          <p:cNvSpPr/>
          <p:nvPr/>
        </p:nvSpPr>
        <p:spPr>
          <a:xfrm>
            <a:off x="6524244" y="1796796"/>
            <a:ext cx="420624" cy="420624"/>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16" name="Text 14"/>
          <p:cNvSpPr/>
          <p:nvPr/>
        </p:nvSpPr>
        <p:spPr>
          <a:xfrm>
            <a:off x="6524244" y="2377440"/>
            <a:ext cx="2004822" cy="45720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Mathis</a:t>
            </a:r>
            <a:endParaRPr lang="en-US" sz="1500" dirty="0"/>
          </a:p>
        </p:txBody>
      </p:sp>
      <p:sp>
        <p:nvSpPr>
          <p:cNvPr id="17" name="Text 15"/>
          <p:cNvSpPr/>
          <p:nvPr/>
        </p:nvSpPr>
        <p:spPr>
          <a:xfrm>
            <a:off x="6524244" y="2880360"/>
            <a:ext cx="2004822" cy="1600200"/>
          </a:xfrm>
          <a:prstGeom prst="rect">
            <a:avLst/>
          </a:prstGeom>
          <a:noFill/>
          <a:ln/>
        </p:spPr>
        <p:txBody>
          <a:bodyPr wrap="square" lIns="0" tIns="0" rIns="0" bIns="0" rtlCol="0" anchor="ctr"/>
          <a:lstStyle/>
          <a:p>
            <a:pPr indent="0" marL="0">
              <a:buNone/>
            </a:pPr>
            <a:r>
              <a:rPr lang="en-US" sz="1200" dirty="0">
                <a:solidFill>
                  <a:srgbClr val="5A6284"/>
                </a:solidFill>
                <a:latin typeface="Calibri" pitchFamily="34" charset="0"/>
                <a:ea typeface="Calibri" pitchFamily="34" charset="-122"/>
                <a:cs typeface="Calibri" pitchFamily="34" charset="-120"/>
              </a:rPr>
              <a:t>Séance 3 — le point d'entrée Main et la couche d'affichage des recommandations.</a:t>
            </a:r>
            <a:endParaRPr lang="en-US" sz="1200" dirty="0"/>
          </a:p>
        </p:txBody>
      </p:sp>
      <p:sp>
        <p:nvSpPr>
          <p:cNvPr id="18" name="Shape 16"/>
          <p:cNvSpPr/>
          <p:nvPr/>
        </p:nvSpPr>
        <p:spPr>
          <a:xfrm>
            <a:off x="9141714" y="1554480"/>
            <a:ext cx="2498598" cy="3108960"/>
          </a:xfrm>
          <a:prstGeom prst="roundRect">
            <a:avLst>
              <a:gd name="adj" fmla="val 2928"/>
            </a:avLst>
          </a:prstGeom>
          <a:solidFill>
            <a:srgbClr val="EFF4FD"/>
          </a:solidFill>
          <a:ln/>
        </p:spPr>
      </p:sp>
      <p:sp>
        <p:nvSpPr>
          <p:cNvPr id="19" name="Shape 17"/>
          <p:cNvSpPr/>
          <p:nvPr/>
        </p:nvSpPr>
        <p:spPr>
          <a:xfrm>
            <a:off x="9388602" y="1810512"/>
            <a:ext cx="420624" cy="420624"/>
          </a:xfrm>
          <a:prstGeom prst="ellipse">
            <a:avLst/>
          </a:prstGeom>
          <a:solidFill>
            <a:srgbClr val="F96167"/>
          </a:solidFill>
          <a:ln/>
        </p:spPr>
      </p:sp>
      <p:sp>
        <p:nvSpPr>
          <p:cNvPr id="20" name="Text 18"/>
          <p:cNvSpPr/>
          <p:nvPr/>
        </p:nvSpPr>
        <p:spPr>
          <a:xfrm>
            <a:off x="9388602" y="1796796"/>
            <a:ext cx="420624" cy="420624"/>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4</a:t>
            </a:r>
            <a:endParaRPr lang="en-US" sz="1700" dirty="0"/>
          </a:p>
        </p:txBody>
      </p:sp>
      <p:sp>
        <p:nvSpPr>
          <p:cNvPr id="21" name="Text 19"/>
          <p:cNvSpPr/>
          <p:nvPr/>
        </p:nvSpPr>
        <p:spPr>
          <a:xfrm>
            <a:off x="9388602" y="2377440"/>
            <a:ext cx="2004822" cy="45720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diallosidymohamed</a:t>
            </a:r>
            <a:endParaRPr lang="en-US" sz="1500" dirty="0"/>
          </a:p>
        </p:txBody>
      </p:sp>
      <p:sp>
        <p:nvSpPr>
          <p:cNvPr id="22" name="Text 20"/>
          <p:cNvSpPr/>
          <p:nvPr/>
        </p:nvSpPr>
        <p:spPr>
          <a:xfrm>
            <a:off x="9388602" y="2880360"/>
            <a:ext cx="2004822" cy="1600200"/>
          </a:xfrm>
          <a:prstGeom prst="rect">
            <a:avLst/>
          </a:prstGeom>
          <a:noFill/>
          <a:ln/>
        </p:spPr>
        <p:txBody>
          <a:bodyPr wrap="square" lIns="0" tIns="0" rIns="0" bIns="0" rtlCol="0" anchor="ctr"/>
          <a:lstStyle/>
          <a:p>
            <a:pPr indent="0" marL="0">
              <a:buNone/>
            </a:pPr>
            <a:r>
              <a:rPr lang="en-US" sz="1200" dirty="0">
                <a:solidFill>
                  <a:srgbClr val="5A6284"/>
                </a:solidFill>
                <a:latin typeface="Calibri" pitchFamily="34" charset="0"/>
                <a:ea typeface="Calibri" pitchFamily="34" charset="-122"/>
                <a:cs typeface="Calibri" pitchFamily="34" charset="-120"/>
              </a:rPr>
              <a:t>Séance 3 — le moteur de recommandation : le pipeline scoring, filtrage, tri, top-N.</a:t>
            </a:r>
            <a:endParaRPr lang="en-US" sz="1200" dirty="0"/>
          </a:p>
        </p:txBody>
      </p:sp>
      <p:sp>
        <p:nvSpPr>
          <p:cNvPr id="23" name="Shape 21"/>
          <p:cNvSpPr/>
          <p:nvPr/>
        </p:nvSpPr>
        <p:spPr>
          <a:xfrm>
            <a:off x="548640" y="4983480"/>
            <a:ext cx="11091672" cy="1325880"/>
          </a:xfrm>
          <a:prstGeom prst="roundRect">
            <a:avLst>
              <a:gd name="adj" fmla="val 5517"/>
            </a:avLst>
          </a:prstGeom>
          <a:solidFill>
            <a:srgbClr val="1E2761"/>
          </a:solidFill>
          <a:ln/>
        </p:spPr>
      </p:sp>
      <p:sp>
        <p:nvSpPr>
          <p:cNvPr id="24" name="Text 22"/>
          <p:cNvSpPr/>
          <p:nvPr/>
        </p:nvSpPr>
        <p:spPr>
          <a:xfrm>
            <a:off x="914400" y="5212080"/>
            <a:ext cx="10360152" cy="914400"/>
          </a:xfrm>
          <a:prstGeom prst="rect">
            <a:avLst/>
          </a:prstGeom>
          <a:noFill/>
          <a:ln/>
        </p:spPr>
        <p:txBody>
          <a:bodyPr wrap="square" lIns="0" tIns="0" rIns="0" bIns="0" rtlCol="0" anchor="ctr"/>
          <a:lstStyle/>
          <a:p>
            <a:pPr indent="0" marL="0">
              <a:buNone/>
            </a:pPr>
            <a:r>
              <a:rPr lang="en-US" sz="1500" b="1" dirty="0">
                <a:solidFill>
                  <a:srgbClr val="F96167"/>
                </a:solidFill>
                <a:latin typeface="Calibri" pitchFamily="34" charset="0"/>
                <a:ea typeface="Calibri" pitchFamily="34" charset="-122"/>
                <a:cs typeface="Calibri" pitchFamily="34" charset="-120"/>
              </a:rPr>
              <a:t>Les tests du moteur : écrits à deux, par Brad et Robin.
</a:t>
            </a:r>
            <a:endParaRPr lang="en-US" sz="1500" dirty="0"/>
          </a:p>
          <a:p>
            <a:pPr indent="0" marL="0">
              <a:buNone/>
            </a:pPr>
            <a:r>
              <a:rPr lang="en-US" sz="1300" dirty="0">
                <a:solidFill>
                  <a:srgbClr val="CADCFC"/>
                </a:solidFill>
                <a:latin typeface="Calibri" pitchFamily="34" charset="0"/>
                <a:ea typeface="Calibri" pitchFamily="34" charset="-122"/>
                <a:cs typeface="Calibri" pitchFamily="34" charset="-120"/>
              </a:rPr>
              <a:t>C'était le morceau le plus délicat à vérifier. Travailler en binôme a permis de confronter deux lectures de l'algorithme — c'est de là qu'est venu le cas de contraste sur le cold start.</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Limites assumées, suites possibles</a:t>
            </a:r>
            <a:endParaRPr lang="en-US" sz="3200" dirty="0"/>
          </a:p>
        </p:txBody>
      </p:sp>
      <p:sp>
        <p:nvSpPr>
          <p:cNvPr id="3" name="Shape 1"/>
          <p:cNvSpPr/>
          <p:nvPr/>
        </p:nvSpPr>
        <p:spPr>
          <a:xfrm>
            <a:off x="548640" y="1600200"/>
            <a:ext cx="3422904" cy="4023360"/>
          </a:xfrm>
          <a:prstGeom prst="roundRect">
            <a:avLst>
              <a:gd name="adj" fmla="val 2137"/>
            </a:avLst>
          </a:prstGeom>
          <a:solidFill>
            <a:srgbClr val="EFF4FD"/>
          </a:solidFill>
          <a:ln/>
        </p:spPr>
      </p:sp>
      <p:sp>
        <p:nvSpPr>
          <p:cNvPr id="4" name="Shape 2"/>
          <p:cNvSpPr/>
          <p:nvPr/>
        </p:nvSpPr>
        <p:spPr>
          <a:xfrm>
            <a:off x="795528" y="1847088"/>
            <a:ext cx="420624" cy="420624"/>
          </a:xfrm>
          <a:prstGeom prst="ellipse">
            <a:avLst/>
          </a:prstGeom>
          <a:solidFill>
            <a:srgbClr val="F96167"/>
          </a:solidFill>
          <a:ln/>
        </p:spPr>
      </p:sp>
      <p:sp>
        <p:nvSpPr>
          <p:cNvPr id="5" name="Text 3"/>
          <p:cNvSpPr/>
          <p:nvPr/>
        </p:nvSpPr>
        <p:spPr>
          <a:xfrm>
            <a:off x="795528" y="1833372"/>
            <a:ext cx="420624" cy="420624"/>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6" name="Text 4"/>
          <p:cNvSpPr/>
          <p:nvPr/>
        </p:nvSpPr>
        <p:spPr>
          <a:xfrm>
            <a:off x="795528" y="2423160"/>
            <a:ext cx="2929128" cy="868680"/>
          </a:xfrm>
          <a:prstGeom prst="rect">
            <a:avLst/>
          </a:prstGeom>
          <a:noFill/>
          <a:ln/>
        </p:spPr>
        <p:txBody>
          <a:bodyPr wrap="square" lIns="0" tIns="0" rIns="0" bIns="0" rtlCol="0" anchor="ctr"/>
          <a:lstStyle/>
          <a:p>
            <a:pPr indent="0" marL="0">
              <a:buNone/>
            </a:pPr>
            <a:r>
              <a:rPr lang="en-US" sz="1550" b="1" dirty="0">
                <a:solidFill>
                  <a:srgbClr val="1E2761"/>
                </a:solidFill>
                <a:latin typeface="Calibri" pitchFamily="34" charset="0"/>
                <a:ea typeface="Calibri" pitchFamily="34" charset="-122"/>
                <a:cs typeface="Calibri" pitchFamily="34" charset="-120"/>
              </a:rPr>
              <a:t>Les notes basses ne pénalisent pas</a:t>
            </a:r>
            <a:endParaRPr lang="en-US" sz="1550" dirty="0"/>
          </a:p>
        </p:txBody>
      </p:sp>
      <p:sp>
        <p:nvSpPr>
          <p:cNvPr id="7" name="Text 5"/>
          <p:cNvSpPr/>
          <p:nvPr/>
        </p:nvSpPr>
        <p:spPr>
          <a:xfrm>
            <a:off x="795528" y="3337560"/>
            <a:ext cx="2929128" cy="2103120"/>
          </a:xfrm>
          <a:prstGeom prst="rect">
            <a:avLst/>
          </a:prstGeom>
          <a:noFill/>
          <a:ln/>
        </p:spPr>
        <p:txBody>
          <a:bodyPr wrap="square" lIns="0" tIns="0" rIns="0" bIns="0" rtlCol="0" anchor="ctr"/>
          <a:lstStyle/>
          <a:p>
            <a:pPr indent="0" marL="0">
              <a:buNone/>
            </a:pPr>
            <a:r>
              <a:rPr lang="en-US" sz="1250" dirty="0">
                <a:solidFill>
                  <a:srgbClr val="5A6284"/>
                </a:solidFill>
                <a:latin typeface="Calibri" pitchFamily="34" charset="0"/>
                <a:ea typeface="Calibri" pitchFamily="34" charset="-122"/>
                <a:cs typeface="Calibri" pitchFamily="34" charset="-120"/>
              </a:rPr>
              <a:t>une note 1-2/5 compte comme un engagement faible, pas comme un rejet. Sans effet sur les sorties actuelles (2 notes ≤ 2 dans le jeu). Première évolution : centrer les notes (valeur − 3).</a:t>
            </a:r>
            <a:endParaRPr lang="en-US" sz="1250" dirty="0"/>
          </a:p>
        </p:txBody>
      </p:sp>
      <p:sp>
        <p:nvSpPr>
          <p:cNvPr id="8" name="Shape 6"/>
          <p:cNvSpPr/>
          <p:nvPr/>
        </p:nvSpPr>
        <p:spPr>
          <a:xfrm>
            <a:off x="4383024" y="1600200"/>
            <a:ext cx="3422904" cy="4023360"/>
          </a:xfrm>
          <a:prstGeom prst="roundRect">
            <a:avLst>
              <a:gd name="adj" fmla="val 2137"/>
            </a:avLst>
          </a:prstGeom>
          <a:solidFill>
            <a:srgbClr val="EFF4FD"/>
          </a:solidFill>
          <a:ln/>
        </p:spPr>
      </p:sp>
      <p:sp>
        <p:nvSpPr>
          <p:cNvPr id="9" name="Shape 7"/>
          <p:cNvSpPr/>
          <p:nvPr/>
        </p:nvSpPr>
        <p:spPr>
          <a:xfrm>
            <a:off x="4629912" y="1847088"/>
            <a:ext cx="420624" cy="420624"/>
          </a:xfrm>
          <a:prstGeom prst="ellipse">
            <a:avLst/>
          </a:prstGeom>
          <a:solidFill>
            <a:srgbClr val="F96167"/>
          </a:solidFill>
          <a:ln/>
        </p:spPr>
      </p:sp>
      <p:sp>
        <p:nvSpPr>
          <p:cNvPr id="10" name="Text 8"/>
          <p:cNvSpPr/>
          <p:nvPr/>
        </p:nvSpPr>
        <p:spPr>
          <a:xfrm>
            <a:off x="4629912" y="1833372"/>
            <a:ext cx="420624" cy="420624"/>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1" name="Text 9"/>
          <p:cNvSpPr/>
          <p:nvPr/>
        </p:nvSpPr>
        <p:spPr>
          <a:xfrm>
            <a:off x="4629912" y="2423160"/>
            <a:ext cx="2929128" cy="868680"/>
          </a:xfrm>
          <a:prstGeom prst="rect">
            <a:avLst/>
          </a:prstGeom>
          <a:noFill/>
          <a:ln/>
        </p:spPr>
        <p:txBody>
          <a:bodyPr wrap="square" lIns="0" tIns="0" rIns="0" bIns="0" rtlCol="0" anchor="ctr"/>
          <a:lstStyle/>
          <a:p>
            <a:pPr indent="0" marL="0">
              <a:buNone/>
            </a:pPr>
            <a:r>
              <a:rPr lang="en-US" sz="1550" b="1" dirty="0">
                <a:solidFill>
                  <a:srgbClr val="1E2761"/>
                </a:solidFill>
                <a:latin typeface="Calibri" pitchFamily="34" charset="0"/>
                <a:ea typeface="Calibri" pitchFamily="34" charset="-122"/>
                <a:cs typeface="Calibri" pitchFamily="34" charset="-120"/>
              </a:rPr>
              <a:t>Complexité quadratique</a:t>
            </a:r>
            <a:endParaRPr lang="en-US" sz="1550" dirty="0"/>
          </a:p>
        </p:txBody>
      </p:sp>
      <p:sp>
        <p:nvSpPr>
          <p:cNvPr id="12" name="Text 10"/>
          <p:cNvSpPr/>
          <p:nvPr/>
        </p:nvSpPr>
        <p:spPr>
          <a:xfrm>
            <a:off x="4629912" y="3337560"/>
            <a:ext cx="2929128" cy="2103120"/>
          </a:xfrm>
          <a:prstGeom prst="rect">
            <a:avLst/>
          </a:prstGeom>
          <a:noFill/>
          <a:ln/>
        </p:spPr>
        <p:txBody>
          <a:bodyPr wrap="square" lIns="0" tIns="0" rIns="0" bIns="0" rtlCol="0" anchor="ctr"/>
          <a:lstStyle/>
          <a:p>
            <a:pPr indent="0" marL="0">
              <a:buNone/>
            </a:pPr>
            <a:r>
              <a:rPr lang="en-US" sz="1250" dirty="0">
                <a:solidFill>
                  <a:srgbClr val="5A6284"/>
                </a:solidFill>
                <a:latin typeface="Calibri" pitchFamily="34" charset="0"/>
                <a:ea typeface="Calibri" pitchFamily="34" charset="-122"/>
                <a:cs typeface="Calibri" pitchFamily="34" charset="-120"/>
              </a:rPr>
              <a:t>similarité calculée contre tous les utilisateurs : acceptable hors-ligne pour 20 profils, voisinage à pré-calculer au-delà.</a:t>
            </a:r>
            <a:endParaRPr lang="en-US" sz="1250" dirty="0"/>
          </a:p>
        </p:txBody>
      </p:sp>
      <p:sp>
        <p:nvSpPr>
          <p:cNvPr id="13" name="Shape 11"/>
          <p:cNvSpPr/>
          <p:nvPr/>
        </p:nvSpPr>
        <p:spPr>
          <a:xfrm>
            <a:off x="8217408" y="1600200"/>
            <a:ext cx="3422904" cy="4023360"/>
          </a:xfrm>
          <a:prstGeom prst="roundRect">
            <a:avLst>
              <a:gd name="adj" fmla="val 2137"/>
            </a:avLst>
          </a:prstGeom>
          <a:solidFill>
            <a:srgbClr val="EFF4FD"/>
          </a:solidFill>
          <a:ln/>
        </p:spPr>
      </p:sp>
      <p:sp>
        <p:nvSpPr>
          <p:cNvPr id="14" name="Shape 12"/>
          <p:cNvSpPr/>
          <p:nvPr/>
        </p:nvSpPr>
        <p:spPr>
          <a:xfrm>
            <a:off x="8464296" y="1847088"/>
            <a:ext cx="420624" cy="420624"/>
          </a:xfrm>
          <a:prstGeom prst="ellipse">
            <a:avLst/>
          </a:prstGeom>
          <a:solidFill>
            <a:srgbClr val="F96167"/>
          </a:solidFill>
          <a:ln/>
        </p:spPr>
      </p:sp>
      <p:sp>
        <p:nvSpPr>
          <p:cNvPr id="15" name="Text 13"/>
          <p:cNvSpPr/>
          <p:nvPr/>
        </p:nvSpPr>
        <p:spPr>
          <a:xfrm>
            <a:off x="8464296" y="1833372"/>
            <a:ext cx="420624" cy="420624"/>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16" name="Text 14"/>
          <p:cNvSpPr/>
          <p:nvPr/>
        </p:nvSpPr>
        <p:spPr>
          <a:xfrm>
            <a:off x="8464296" y="2423160"/>
            <a:ext cx="2929128" cy="868680"/>
          </a:xfrm>
          <a:prstGeom prst="rect">
            <a:avLst/>
          </a:prstGeom>
          <a:noFill/>
          <a:ln/>
        </p:spPr>
        <p:txBody>
          <a:bodyPr wrap="square" lIns="0" tIns="0" rIns="0" bIns="0" rtlCol="0" anchor="ctr"/>
          <a:lstStyle/>
          <a:p>
            <a:pPr indent="0" marL="0">
              <a:buNone/>
            </a:pPr>
            <a:r>
              <a:rPr lang="en-US" sz="1550" b="1" dirty="0">
                <a:solidFill>
                  <a:srgbClr val="1E2761"/>
                </a:solidFill>
                <a:latin typeface="Calibri" pitchFamily="34" charset="0"/>
                <a:ea typeface="Calibri" pitchFamily="34" charset="-122"/>
                <a:cs typeface="Calibri" pitchFamily="34" charset="-120"/>
              </a:rPr>
              <a:t>Périmètre volontairement strict</a:t>
            </a:r>
            <a:endParaRPr lang="en-US" sz="1550" dirty="0"/>
          </a:p>
        </p:txBody>
      </p:sp>
      <p:sp>
        <p:nvSpPr>
          <p:cNvPr id="17" name="Text 15"/>
          <p:cNvSpPr/>
          <p:nvPr/>
        </p:nvSpPr>
        <p:spPr>
          <a:xfrm>
            <a:off x="8464296" y="3337560"/>
            <a:ext cx="2929128" cy="2103120"/>
          </a:xfrm>
          <a:prstGeom prst="rect">
            <a:avLst/>
          </a:prstGeom>
          <a:noFill/>
          <a:ln/>
        </p:spPr>
        <p:txBody>
          <a:bodyPr wrap="square" lIns="0" tIns="0" rIns="0" bIns="0" rtlCol="0" anchor="ctr"/>
          <a:lstStyle/>
          <a:p>
            <a:pPr indent="0" marL="0">
              <a:buNone/>
            </a:pPr>
            <a:r>
              <a:rPr lang="en-US" sz="1250" dirty="0">
                <a:solidFill>
                  <a:srgbClr val="5A6284"/>
                </a:solidFill>
                <a:latin typeface="Calibri" pitchFamily="34" charset="0"/>
                <a:ea typeface="Calibri" pitchFamily="34" charset="-122"/>
                <a:cs typeface="Calibri" pitchFamily="34" charset="-120"/>
              </a:rPr>
              <a:t>les extensions optionnelles du sujet (hybride, précision, export JSON) ne sont pas implémentées : le livré est le demandé, ni plus ni moins.</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1D4A"/>
        </a:solidFill>
      </p:bgPr>
    </p:bg>
    <p:spTree>
      <p:nvGrpSpPr>
        <p:cNvPr id="1" name=""/>
        <p:cNvGrpSpPr/>
        <p:nvPr/>
      </p:nvGrpSpPr>
      <p:grpSpPr>
        <a:xfrm>
          <a:off x="0" y="0"/>
          <a:ext cx="0" cy="0"/>
          <a:chOff x="0" y="0"/>
          <a:chExt cx="0" cy="0"/>
        </a:xfrm>
      </p:grpSpPr>
      <p:sp>
        <p:nvSpPr>
          <p:cNvPr id="2" name="Text 0"/>
          <p:cNvSpPr/>
          <p:nvPr/>
        </p:nvSpPr>
        <p:spPr>
          <a:xfrm>
            <a:off x="548640" y="502920"/>
            <a:ext cx="11091672"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Quatre objectifs, quatre réponses</a:t>
            </a:r>
            <a:endParaRPr lang="en-US" sz="3200" dirty="0"/>
          </a:p>
        </p:txBody>
      </p:sp>
      <p:sp>
        <p:nvSpPr>
          <p:cNvPr id="3" name="Shape 1"/>
          <p:cNvSpPr/>
          <p:nvPr/>
        </p:nvSpPr>
        <p:spPr>
          <a:xfrm>
            <a:off x="548640" y="1600200"/>
            <a:ext cx="5317236" cy="1600200"/>
          </a:xfrm>
          <a:prstGeom prst="roundRect">
            <a:avLst>
              <a:gd name="adj" fmla="val 4571"/>
            </a:avLst>
          </a:prstGeom>
          <a:solidFill>
            <a:srgbClr val="232B5E"/>
          </a:solidFill>
          <a:ln/>
        </p:spPr>
      </p:sp>
      <p:sp>
        <p:nvSpPr>
          <p:cNvPr id="4" name="Text 2"/>
          <p:cNvSpPr/>
          <p:nvPr/>
        </p:nvSpPr>
        <p:spPr>
          <a:xfrm>
            <a:off x="868680" y="1856232"/>
            <a:ext cx="4677156" cy="457200"/>
          </a:xfrm>
          <a:prstGeom prst="rect">
            <a:avLst/>
          </a:prstGeom>
          <a:noFill/>
          <a:ln/>
        </p:spPr>
        <p:txBody>
          <a:bodyPr wrap="square" lIns="0" tIns="0" rIns="0" bIns="0" rtlCol="0" anchor="ctr"/>
          <a:lstStyle/>
          <a:p>
            <a:pPr indent="0" marL="0">
              <a:buNone/>
            </a:pPr>
            <a:r>
              <a:rPr lang="en-US" sz="1900" b="1" dirty="0">
                <a:solidFill>
                  <a:srgbClr val="F96167"/>
                </a:solidFill>
                <a:latin typeface="Cambria" pitchFamily="34" charset="0"/>
                <a:ea typeface="Cambria" pitchFamily="34" charset="-122"/>
                <a:cs typeface="Cambria" pitchFamily="34" charset="-120"/>
              </a:rPr>
              <a:t>Taux de clic</a:t>
            </a:r>
            <a:endParaRPr lang="en-US" sz="1900" dirty="0"/>
          </a:p>
        </p:txBody>
      </p:sp>
      <p:sp>
        <p:nvSpPr>
          <p:cNvPr id="5" name="Text 3"/>
          <p:cNvSpPr/>
          <p:nvPr/>
        </p:nvSpPr>
        <p:spPr>
          <a:xfrm>
            <a:off x="868680" y="2377440"/>
            <a:ext cx="4677156" cy="640080"/>
          </a:xfrm>
          <a:prstGeom prst="rect">
            <a:avLst/>
          </a:prstGeom>
          <a:noFill/>
          <a:ln/>
        </p:spPr>
        <p:txBody>
          <a:bodyPr wrap="square" lIns="0" tIns="0" rIns="0" bIns="0" rtlCol="0" anchor="ctr"/>
          <a:lstStyle/>
          <a:p>
            <a:pPr indent="0" marL="0">
              <a:buNone/>
            </a:pPr>
            <a:r>
              <a:rPr lang="en-US" sz="1450" dirty="0">
                <a:solidFill>
                  <a:srgbClr val="CADCFC"/>
                </a:solidFill>
                <a:latin typeface="Calibri" pitchFamily="34" charset="0"/>
                <a:ea typeface="Calibri" pitchFamily="34" charset="-122"/>
                <a:cs typeface="Calibri" pitchFamily="34" charset="-120"/>
              </a:rPr>
              <a:t>voisins de goût par cosinus, top-N trié</a:t>
            </a:r>
            <a:endParaRPr lang="en-US" sz="1450" dirty="0"/>
          </a:p>
        </p:txBody>
      </p:sp>
      <p:sp>
        <p:nvSpPr>
          <p:cNvPr id="6" name="Shape 4"/>
          <p:cNvSpPr/>
          <p:nvPr/>
        </p:nvSpPr>
        <p:spPr>
          <a:xfrm>
            <a:off x="6323076" y="1600200"/>
            <a:ext cx="5317236" cy="1600200"/>
          </a:xfrm>
          <a:prstGeom prst="roundRect">
            <a:avLst>
              <a:gd name="adj" fmla="val 4571"/>
            </a:avLst>
          </a:prstGeom>
          <a:solidFill>
            <a:srgbClr val="232B5E"/>
          </a:solidFill>
          <a:ln/>
        </p:spPr>
      </p:sp>
      <p:sp>
        <p:nvSpPr>
          <p:cNvPr id="7" name="Text 5"/>
          <p:cNvSpPr/>
          <p:nvPr/>
        </p:nvSpPr>
        <p:spPr>
          <a:xfrm>
            <a:off x="6643116" y="1856232"/>
            <a:ext cx="4677156" cy="457200"/>
          </a:xfrm>
          <a:prstGeom prst="rect">
            <a:avLst/>
          </a:prstGeom>
          <a:noFill/>
          <a:ln/>
        </p:spPr>
        <p:txBody>
          <a:bodyPr wrap="square" lIns="0" tIns="0" rIns="0" bIns="0" rtlCol="0" anchor="ctr"/>
          <a:lstStyle/>
          <a:p>
            <a:pPr indent="0" marL="0">
              <a:buNone/>
            </a:pPr>
            <a:r>
              <a:rPr lang="en-US" sz="1900" b="1" dirty="0">
                <a:solidFill>
                  <a:srgbClr val="F96167"/>
                </a:solidFill>
                <a:latin typeface="Cambria" pitchFamily="34" charset="0"/>
                <a:ea typeface="Cambria" pitchFamily="34" charset="-122"/>
                <a:cs typeface="Cambria" pitchFamily="34" charset="-120"/>
              </a:rPr>
              <a:t>Panier moyen</a:t>
            </a:r>
            <a:endParaRPr lang="en-US" sz="1900" dirty="0"/>
          </a:p>
        </p:txBody>
      </p:sp>
      <p:sp>
        <p:nvSpPr>
          <p:cNvPr id="8" name="Text 6"/>
          <p:cNvSpPr/>
          <p:nvPr/>
        </p:nvSpPr>
        <p:spPr>
          <a:xfrm>
            <a:off x="6643116" y="2377440"/>
            <a:ext cx="4677156" cy="640080"/>
          </a:xfrm>
          <a:prstGeom prst="rect">
            <a:avLst/>
          </a:prstGeom>
          <a:noFill/>
          <a:ln/>
        </p:spPr>
        <p:txBody>
          <a:bodyPr wrap="square" lIns="0" tIns="0" rIns="0" bIns="0" rtlCol="0" anchor="ctr"/>
          <a:lstStyle/>
          <a:p>
            <a:pPr indent="0" marL="0">
              <a:buNone/>
            </a:pPr>
            <a:r>
              <a:rPr lang="en-US" sz="1450" dirty="0">
                <a:solidFill>
                  <a:srgbClr val="CADCFC"/>
                </a:solidFill>
                <a:latin typeface="Calibri" pitchFamily="34" charset="0"/>
                <a:ea typeface="Calibri" pitchFamily="34" charset="-122"/>
                <a:cs typeface="Calibri" pitchFamily="34" charset="-120"/>
              </a:rPr>
              <a:t>uniquement des produits jamais consultés</a:t>
            </a:r>
            <a:endParaRPr lang="en-US" sz="1450" dirty="0"/>
          </a:p>
        </p:txBody>
      </p:sp>
      <p:sp>
        <p:nvSpPr>
          <p:cNvPr id="9" name="Shape 7"/>
          <p:cNvSpPr/>
          <p:nvPr/>
        </p:nvSpPr>
        <p:spPr>
          <a:xfrm>
            <a:off x="548640" y="3566160"/>
            <a:ext cx="5317236" cy="1600200"/>
          </a:xfrm>
          <a:prstGeom prst="roundRect">
            <a:avLst>
              <a:gd name="adj" fmla="val 4571"/>
            </a:avLst>
          </a:prstGeom>
          <a:solidFill>
            <a:srgbClr val="232B5E"/>
          </a:solidFill>
          <a:ln/>
        </p:spPr>
      </p:sp>
      <p:sp>
        <p:nvSpPr>
          <p:cNvPr id="10" name="Text 8"/>
          <p:cNvSpPr/>
          <p:nvPr/>
        </p:nvSpPr>
        <p:spPr>
          <a:xfrm>
            <a:off x="868680" y="3822192"/>
            <a:ext cx="4677156" cy="457200"/>
          </a:xfrm>
          <a:prstGeom prst="rect">
            <a:avLst/>
          </a:prstGeom>
          <a:noFill/>
          <a:ln/>
        </p:spPr>
        <p:txBody>
          <a:bodyPr wrap="square" lIns="0" tIns="0" rIns="0" bIns="0" rtlCol="0" anchor="ctr"/>
          <a:lstStyle/>
          <a:p>
            <a:pPr indent="0" marL="0">
              <a:buNone/>
            </a:pPr>
            <a:r>
              <a:rPr lang="en-US" sz="1900" b="1" dirty="0">
                <a:solidFill>
                  <a:srgbClr val="F96167"/>
                </a:solidFill>
                <a:latin typeface="Cambria" pitchFamily="34" charset="0"/>
                <a:ea typeface="Cambria" pitchFamily="34" charset="-122"/>
                <a:cs typeface="Cambria" pitchFamily="34" charset="-120"/>
              </a:rPr>
              <a:t>Cold start</a:t>
            </a:r>
            <a:endParaRPr lang="en-US" sz="1900" dirty="0"/>
          </a:p>
        </p:txBody>
      </p:sp>
      <p:sp>
        <p:nvSpPr>
          <p:cNvPr id="11" name="Text 9"/>
          <p:cNvSpPr/>
          <p:nvPr/>
        </p:nvSpPr>
        <p:spPr>
          <a:xfrm>
            <a:off x="868680" y="4343400"/>
            <a:ext cx="4677156" cy="640080"/>
          </a:xfrm>
          <a:prstGeom prst="rect">
            <a:avLst/>
          </a:prstGeom>
          <a:noFill/>
          <a:ln/>
        </p:spPr>
        <p:txBody>
          <a:bodyPr wrap="square" lIns="0" tIns="0" rIns="0" bIns="0" rtlCol="0" anchor="ctr"/>
          <a:lstStyle/>
          <a:p>
            <a:pPr indent="0" marL="0">
              <a:buNone/>
            </a:pPr>
            <a:r>
              <a:rPr lang="en-US" sz="1450" dirty="0">
                <a:solidFill>
                  <a:srgbClr val="CADCFC"/>
                </a:solidFill>
                <a:latin typeface="Calibri" pitchFamily="34" charset="0"/>
                <a:ea typeface="Calibri" pitchFamily="34" charset="-122"/>
                <a:cs typeface="Calibri" pitchFamily="34" charset="-120"/>
              </a:rPr>
              <a:t>repli populaire piloté par le segment, via Option</a:t>
            </a:r>
            <a:endParaRPr lang="en-US" sz="1450" dirty="0"/>
          </a:p>
        </p:txBody>
      </p:sp>
      <p:sp>
        <p:nvSpPr>
          <p:cNvPr id="12" name="Shape 10"/>
          <p:cNvSpPr/>
          <p:nvPr/>
        </p:nvSpPr>
        <p:spPr>
          <a:xfrm>
            <a:off x="6323076" y="3566160"/>
            <a:ext cx="5317236" cy="1600200"/>
          </a:xfrm>
          <a:prstGeom prst="roundRect">
            <a:avLst>
              <a:gd name="adj" fmla="val 4571"/>
            </a:avLst>
          </a:prstGeom>
          <a:solidFill>
            <a:srgbClr val="232B5E"/>
          </a:solidFill>
          <a:ln/>
        </p:spPr>
      </p:sp>
      <p:sp>
        <p:nvSpPr>
          <p:cNvPr id="13" name="Text 11"/>
          <p:cNvSpPr/>
          <p:nvPr/>
        </p:nvSpPr>
        <p:spPr>
          <a:xfrm>
            <a:off x="6643116" y="3822192"/>
            <a:ext cx="4677156" cy="457200"/>
          </a:xfrm>
          <a:prstGeom prst="rect">
            <a:avLst/>
          </a:prstGeom>
          <a:noFill/>
          <a:ln/>
        </p:spPr>
        <p:txBody>
          <a:bodyPr wrap="square" lIns="0" tIns="0" rIns="0" bIns="0" rtlCol="0" anchor="ctr"/>
          <a:lstStyle/>
          <a:p>
            <a:pPr indent="0" marL="0">
              <a:buNone/>
            </a:pPr>
            <a:r>
              <a:rPr lang="en-US" sz="1900" b="1" dirty="0">
                <a:solidFill>
                  <a:srgbClr val="F96167"/>
                </a:solidFill>
                <a:latin typeface="Cambria" pitchFamily="34" charset="0"/>
                <a:ea typeface="Cambria" pitchFamily="34" charset="-122"/>
                <a:cs typeface="Cambria" pitchFamily="34" charset="-120"/>
              </a:rPr>
              <a:t>Explicabilité</a:t>
            </a:r>
            <a:endParaRPr lang="en-US" sz="1900" dirty="0"/>
          </a:p>
        </p:txBody>
      </p:sp>
      <p:sp>
        <p:nvSpPr>
          <p:cNvPr id="14" name="Text 12"/>
          <p:cNvSpPr/>
          <p:nvPr/>
        </p:nvSpPr>
        <p:spPr>
          <a:xfrm>
            <a:off x="6643116" y="4343400"/>
            <a:ext cx="4677156" cy="640080"/>
          </a:xfrm>
          <a:prstGeom prst="rect">
            <a:avLst/>
          </a:prstGeom>
          <a:noFill/>
          <a:ln/>
        </p:spPr>
        <p:txBody>
          <a:bodyPr wrap="square" lIns="0" tIns="0" rIns="0" bIns="0" rtlCol="0" anchor="ctr"/>
          <a:lstStyle/>
          <a:p>
            <a:pPr indent="0" marL="0">
              <a:buNone/>
            </a:pPr>
            <a:r>
              <a:rPr lang="en-US" sz="1450" dirty="0">
                <a:solidFill>
                  <a:srgbClr val="CADCFC"/>
                </a:solidFill>
                <a:latin typeface="Calibri" pitchFamily="34" charset="0"/>
                <a:ea typeface="Calibri" pitchFamily="34" charset="-122"/>
                <a:cs typeface="Calibri" pitchFamily="34" charset="-120"/>
              </a:rPr>
              <a:t>chaque recommandation porte sa justification</a:t>
            </a:r>
            <a:endParaRPr lang="en-US" sz="1450" dirty="0"/>
          </a:p>
        </p:txBody>
      </p:sp>
      <p:sp>
        <p:nvSpPr>
          <p:cNvPr id="15" name="Text 13"/>
          <p:cNvSpPr/>
          <p:nvPr/>
        </p:nvSpPr>
        <p:spPr>
          <a:xfrm>
            <a:off x="548640" y="5577840"/>
            <a:ext cx="11091672" cy="411480"/>
          </a:xfrm>
          <a:prstGeom prst="rect">
            <a:avLst/>
          </a:prstGeom>
          <a:noFill/>
          <a:ln/>
        </p:spPr>
        <p:txBody>
          <a:bodyPr wrap="square" lIns="0" tIns="0" rIns="0" bIns="0" rtlCol="0" anchor="ctr"/>
          <a:lstStyle/>
          <a:p>
            <a:pPr algn="ctr" indent="0" marL="0">
              <a:buNone/>
            </a:pPr>
            <a:r>
              <a:rPr lang="en-US" sz="1500" dirty="0">
                <a:solidFill>
                  <a:srgbClr val="FFFFFF"/>
                </a:solidFill>
                <a:latin typeface="Calibri" pitchFamily="34" charset="0"/>
                <a:ea typeface="Calibri" pitchFamily="34" charset="-122"/>
                <a:cs typeface="Calibri" pitchFamily="34" charset="-120"/>
              </a:rPr>
              <a:t>Scala 3.8.1  ·  4 couches  ·  46 tests  ·  équipe de 4  ·  résultats reproductibles</a:t>
            </a:r>
            <a:endParaRPr lang="en-US" sz="1500" dirty="0"/>
          </a:p>
        </p:txBody>
      </p:sp>
      <p:sp>
        <p:nvSpPr>
          <p:cNvPr id="16" name="Text 14"/>
          <p:cNvSpPr/>
          <p:nvPr/>
        </p:nvSpPr>
        <p:spPr>
          <a:xfrm>
            <a:off x="548640" y="6172200"/>
            <a:ext cx="11091672" cy="365760"/>
          </a:xfrm>
          <a:prstGeom prst="rect">
            <a:avLst/>
          </a:prstGeom>
          <a:noFill/>
          <a:ln/>
        </p:spPr>
        <p:txBody>
          <a:bodyPr wrap="square" lIns="0" tIns="0" rIns="0" bIns="0" rtlCol="0" anchor="ctr"/>
          <a:lstStyle/>
          <a:p>
            <a:pPr algn="ctr" indent="0" marL="0">
              <a:buNone/>
            </a:pPr>
            <a:r>
              <a:rPr lang="en-US" sz="1250" dirty="0">
                <a:solidFill>
                  <a:srgbClr val="CADCFC"/>
                </a:solidFill>
                <a:latin typeface="Calibri" pitchFamily="34" charset="0"/>
                <a:ea typeface="Calibri" pitchFamily="34" charset="-122"/>
                <a:cs typeface="Calibri" pitchFamily="34" charset="-120"/>
              </a:rPr>
              <a:t>Merci — place aux questions   |   github.com/afthegamer/sujet2-moteur-recommandation</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2026-07-31T08:43:32Z</dcterms:created>
  <dcterms:modified xsi:type="dcterms:W3CDTF">2026-07-31T08:43:32Z</dcterms:modified>
</cp:coreProperties>
</file>